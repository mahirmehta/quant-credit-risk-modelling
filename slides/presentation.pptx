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professors and committee members. Today I present our research project on the macro-sensitivity of corporate credit ratings and fallen-angel early warning systems. This project investigates agency through-the-cycle rating stickiness, CreditWatch dynamics, and builds a point-in-time quantitative forecasting framework.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BBB- / BB+ rating boundary represents the single largest liquidity cliff in modern fixed income. Over 50% of the US corporate investment grade index sits in the BBB tier. When an issuer crosses into junk status, forced-selling pressure generates substantial excess yield spikes.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formalise 5 testable hypotheses designed to assess every dimension of rating stickiness, macroeconomic incremental value, cross-sectional heterogeneity, and practical early warning lead times.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contributions span from econometric formulation (latent shadow rating half-life and multi-state migration) to stress testing rigor (VAR conditional paths rather than arbitrary ad-hoc shocks) and verification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outlines the data engineering pipeline. We enforce strict availability date filtering so that no accounting information is utilized prior to its public filing date. The macro block captures both monetary cycles and credit spreads.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define the target variables. Fallen angel transitions are defined as 12-month forward migrations across the BBB- to BB+ threshold. Watch and Outlook signals represent crucial interim steps in the agency action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summarizes our sample filtering and descriptive statistics. We transparently report attrition: 68.4% of initial firm-quarters are retained after strict missingness and rating continuity filters. All accounting ratios were winsorized using training-set-only thresholds to eliminate distributional lookahead.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Rigorous validation requires complete temporal isolation. Random train/test splits artificially inflate performance because firm fundamentals persist across quarters. We enforce an expanding temporal split with an explicit 4-quarter embargo, testing out-of-sample across 2020 to 2025.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displays our Ordered Probit baseline. Size, leverage, and interest coverage dominate the fundamental block. Crucially, the distance between the cutpoint for BBB- and BB+ is nearly 50% wider than between adjacent speculative categories, empirically capturing the institutional reluctance of rating committees to cross the investment grade cliff.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Likelihood Ratio test statistic of 284.6 (p &lt; 0.0001), we decisively reject the hypothesis that macro variables are redundant. The Fed funds rate and High Yield OAS spread add massive explanatory power, elevating McFadden's pseudo R2 from 0.25 to 0.34.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presents our headline N1 contribution. The shadow rating gap quantifies the agency lag. We estimate an adjustment speed of lambda = 0.115, yielding an empirical rating half-life of 5.7 quarters, or roughly 17 months. Agencies take over a year to reflect 50% of an economic shock.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response to committee feedback, Model M2 treats CreditWatch and Outlook as formal transition states. Over 70% of firms placed on CreditWatch Negative are subsequently downgraded. Macro tightening shocks significantly increase the flow into the CreditWatch Negative state.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Fallen angel forecasting suffers from severe class imbalance. We deploy Firth's penalised likelihood to prevent rare-event bias. When compared to modern Gradient Boosted Decision Trees, our econometrically grounded logistic model captures nearly identical predictive performance while maintaining interpretable coefficients.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strictly out-of-sample test window spanning 2020 to 2025, the macro-augmented model boosts ROC-AUC from 0.76 to 0.84, with the DeLong test confirming statistical significance. PR-AUC jumps by 45%, and the top-decile lift factor reaches 4.8x.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N6 directly evaluates practical early warning utility. For realised fallen angels, our model triggered an alert an average of 3.12 quarters in advance, compared to just 1.24 quarters for rating agency CreditWatch placements. This grants institutional portfolio managers an average 5.6-month head start to rebalance before forced selling occurs.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confirms Hypothesis H3. The impact of a macroeconomic tightening shock depends critically on firm leverage. For low-leverage firms, a 300bp rate hike increases fallen angel risk negligibly. For high-leverage issuers, the risk escalates non-linearly, demonstrating a severe vulnerability wedge.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 Fama-French 12 industry sectors, Consumer Durables, Energy, Retail, and Telecom emerge as the most vulnerable under monetary tightening. Healthcare and Consumer Non-Durables exhibit strong secular resilience, with stressed fallen angel probabilities remaining below 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18, our VAR conditional forecast framework ensures macro coherence. Rather than shocking interest rates in isolation, the VAR models joint co-movements of credit spreads and GDP growth. Under the Hard Landing scenario (S2), the fallen angel rate reaches 9.4%, putting over $133 billion of corporate debt at risk of forced liquidation.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subjected the pipeline to a battery of robustness checks and negative controls. In Figure 10, when we permute macro variables across time, the model's out-of-sample gain completely disappears, proving that the timing of macroeconomic conditions is the genuine driver. Shuffled labels yield an AUC of 0.50, verifying the absence of look-ahead leakage.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institutional investors, our model offers practical protection against fire-sale losses by providing actionable lead time. We also acknowledge methodological limitations: our baseline stress tests hold balance sheets static, and the findings are specific to the US corporate market.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research demonstrates that credit rating agency stickiness is quantifiable and predictable. A point-in-time macro-augmented model provides vital early warning lead time to protect fixed-income portfolios. Thank you for your time,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2286000"/>
          </a:xfrm>
          <a:prstGeom prst="rect">
            <a:avLst/>
          </a:prstGeom>
          <a:noFill/>
        </p:spPr>
        <p:txBody>
          <a:bodyPr wrap="square">
            <a:spAutoFit/>
          </a:bodyPr>
          <a:lstStyle/>
          <a:p>
            <a:pPr>
              <a:spcAft>
                <a:spcPts val="1400"/>
              </a:spcAft>
              <a:defRPr sz="3600" b="1">
                <a:solidFill>
                  <a:srgbClr val="FFFFFF"/>
                </a:solidFill>
              </a:defRPr>
            </a:pPr>
            <a:r>
              <a:t>Macro-Sensitivity of Corporate Credit Ratings</a:t>
            </a:r>
            <a:br/>
            <a:r>
              <a:t>&amp; Fallen-Angel Early Warning</a:t>
            </a:r>
          </a:p>
          <a:p>
            <a:pPr>
              <a:defRPr sz="1800">
                <a:solidFill>
                  <a:srgbClr val="DAA520"/>
                </a:solidFill>
              </a:defRPr>
            </a:pPr>
            <a:r>
              <a:t>A Point-in-Time Econometric Framework with CreditWatch Transitions and Coherent Macro Stress Testing</a:t>
            </a:r>
          </a:p>
        </p:txBody>
      </p:sp>
      <p:sp>
        <p:nvSpPr>
          <p:cNvPr id="4" name="TextBox 3"/>
          <p:cNvSpPr txBox="1"/>
          <p:nvPr/>
        </p:nvSpPr>
        <p:spPr>
          <a:xfrm>
            <a:off x="914400" y="4389120"/>
            <a:ext cx="10362895" cy="1645920"/>
          </a:xfrm>
          <a:prstGeom prst="rect">
            <a:avLst/>
          </a:prstGeom>
          <a:noFill/>
        </p:spPr>
        <p:txBody>
          <a:bodyPr wrap="none">
            <a:spAutoFit/>
          </a:bodyPr>
          <a:lstStyle/>
          <a:p>
            <a:pPr>
              <a:defRPr sz="1600" b="1">
                <a:solidFill>
                  <a:srgbClr val="FFFFFF"/>
                </a:solidFill>
              </a:defRPr>
            </a:pPr>
            <a:r>
              <a:t>Author: Mahir Mehta</a:t>
            </a:r>
          </a:p>
          <a:p>
            <a:pPr>
              <a:spcBef>
                <a:spcPts val="600"/>
              </a:spcBef>
              <a:defRPr sz="1300">
                <a:solidFill>
                  <a:srgbClr val="C8D2E1"/>
                </a:solidFill>
              </a:defRPr>
            </a:pPr>
            <a:r>
              <a:t>Course: Quantitative Analysis of Financial Markets</a:t>
            </a:r>
            <a:br/>
            <a:r>
              <a:t>Master of Science in Quantitative Finance (MSc MQF)</a:t>
            </a:r>
            <a:br/>
            <a:r>
              <a:t>Singapore Management University (SMU)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1. RESEARCH MOTIVATION</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Rating Agency Through-The-Cycle Lag &amp; The Investment-Grade Cliff</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2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The Institutional Problem</a:t>
            </a:r>
          </a:p>
          <a:p>
            <a:pPr>
              <a:spcAft>
                <a:spcPts val="600"/>
              </a:spcAft>
              <a:defRPr sz="1100">
                <a:solidFill>
                  <a:srgbClr val="282828"/>
                </a:solidFill>
              </a:defRPr>
            </a:pPr>
            <a:r>
              <a:t>•  Credit rating agencies (S&amp;P, Moody's, Fitch) follow a Through-The-Cycle (TTC) philosophy to ensure rating stability.</a:t>
            </a:r>
          </a:p>
          <a:p>
            <a:pPr>
              <a:spcAft>
                <a:spcPts val="600"/>
              </a:spcAft>
              <a:defRPr sz="1100">
                <a:solidFill>
                  <a:srgbClr val="282828"/>
                </a:solidFill>
              </a:defRPr>
            </a:pPr>
            <a:r>
              <a:t>•  While TTC filters transitory fluctuations, it introduces systemic rating stickiness and delayed downgrades (Altman &amp; Rijken, 2004).</a:t>
            </a:r>
          </a:p>
          <a:p>
            <a:pPr>
              <a:spcAft>
                <a:spcPts val="600"/>
              </a:spcAft>
              <a:defRPr sz="1100">
                <a:solidFill>
                  <a:srgbClr val="282828"/>
                </a:solidFill>
              </a:defRPr>
            </a:pPr>
            <a:r>
              <a:t>•  The BBB- to BB+ boundary marks a critical non-linear institutional 'cliff': crossing it triggers index exclusion, mandate divestments, and forced fire sales.</a:t>
            </a:r>
          </a:p>
          <a:p>
            <a:pPr>
              <a:spcAft>
                <a:spcPts val="600"/>
              </a:spcAft>
              <a:defRPr sz="1100">
                <a:solidFill>
                  <a:srgbClr val="282828"/>
                </a:solidFill>
              </a:defRPr>
            </a:pPr>
            <a:r>
              <a:t>•  Regulatory constraints (capital adequacy under Basel / NAIC) force institutional fixed-income funds to liquidate fallen angels into illiquid markets.</a:t>
            </a:r>
          </a:p>
          <a:p>
            <a:pPr>
              <a:spcAft>
                <a:spcPts val="600"/>
              </a:spcAft>
              <a:defRPr sz="1100">
                <a:solidFill>
                  <a:srgbClr val="282828"/>
                </a:solidFill>
              </a:defRPr>
            </a:pPr>
            <a:r>
              <a:t>•  Central Question: Can a point-in-time (PIT) econometric model anticipate fallen-angel crossings well ahead of agency CreditWatch actions?</a:t>
            </a:r>
          </a:p>
        </p:txBody>
      </p:sp>
      <p:pic>
        <p:nvPicPr>
          <p:cNvPr id="8" name="Picture 7" descr="fig1_rating_distribution.png"/>
          <p:cNvPicPr>
            <a:picLocks noChangeAspect="1"/>
          </p:cNvPicPr>
          <p:nvPr/>
        </p:nvPicPr>
        <p:blipFill>
          <a:blip r:embed="rId2"/>
          <a:stretch>
            <a:fillRect/>
          </a:stretch>
        </p:blipFill>
        <p:spPr>
          <a:xfrm>
            <a:off x="6126480" y="1280160"/>
            <a:ext cx="5303520" cy="49377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1. CONCEPTUAL DESIGN</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Core Research Questions &amp; Testable Hypotheses</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3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Research Questions</a:t>
            </a:r>
          </a:p>
          <a:p>
            <a:pPr>
              <a:spcAft>
                <a:spcPts val="600"/>
              </a:spcAft>
              <a:defRPr sz="1100">
                <a:solidFill>
                  <a:srgbClr val="282828"/>
                </a:solidFill>
              </a:defRPr>
            </a:pPr>
            <a:r>
              <a:t>•  RQ1: How slowly do published credit ratings adjust to changing macroeconomic and monetary policy regimes?</a:t>
            </a:r>
          </a:p>
          <a:p>
            <a:pPr>
              <a:spcAft>
                <a:spcPts val="600"/>
              </a:spcAft>
              <a:defRPr sz="1100">
                <a:solidFill>
                  <a:srgbClr val="282828"/>
                </a:solidFill>
              </a:defRPr>
            </a:pPr>
            <a:r>
              <a:t>•  RQ2: Do real-time macroeconomic regressors provide incremental predictive power beyond trailing accounting fundamentals?</a:t>
            </a:r>
          </a:p>
          <a:p>
            <a:pPr>
              <a:spcAft>
                <a:spcPts val="600"/>
              </a:spcAft>
              <a:defRPr sz="1100">
                <a:solidFill>
                  <a:srgbClr val="282828"/>
                </a:solidFill>
              </a:defRPr>
            </a:pPr>
            <a:r>
              <a:t>•  RQ3: How does macro sensitivity vary across corporate capital structures, coverage cushions, and sectors?</a:t>
            </a:r>
          </a:p>
          <a:p>
            <a:pPr>
              <a:spcAft>
                <a:spcPts val="600"/>
              </a:spcAft>
              <a:defRPr sz="1100">
                <a:solidFill>
                  <a:srgbClr val="282828"/>
                </a:solidFill>
              </a:defRPr>
            </a:pPr>
            <a:r>
              <a:t>•  RQ4: Can CreditWatch and Outlook states be explicitly modeled to enhance early-warning lead times?</a:t>
            </a:r>
          </a:p>
          <a:p>
            <a:pPr>
              <a:spcAft>
                <a:spcPts val="600"/>
              </a:spcAft>
              <a:defRPr sz="1100">
                <a:solidFill>
                  <a:srgbClr val="282828"/>
                </a:solidFill>
              </a:defRPr>
            </a:pPr>
            <a:r>
              <a:t>•  RQ5: What is the portfolio impact under internally consistent multi-quarter macroeconomic stress scenarios?</a:t>
            </a:r>
          </a:p>
        </p:txBody>
      </p:sp>
      <p:sp>
        <p:nvSpPr>
          <p:cNvPr id="8" name="Rounded Rectangle 7"/>
          <p:cNvSpPr/>
          <p:nvPr/>
        </p:nvSpPr>
        <p:spPr>
          <a:xfrm>
            <a:off x="6126480" y="1280160"/>
            <a:ext cx="530352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417320"/>
            <a:ext cx="4937760" cy="4663440"/>
          </a:xfrm>
          <a:prstGeom prst="rect">
            <a:avLst/>
          </a:prstGeom>
          <a:noFill/>
        </p:spPr>
        <p:txBody>
          <a:bodyPr wrap="square">
            <a:spAutoFit/>
          </a:bodyPr>
          <a:lstStyle/>
          <a:p>
            <a:pPr>
              <a:spcAft>
                <a:spcPts val="800"/>
              </a:spcAft>
              <a:defRPr sz="1400" b="1">
                <a:solidFill>
                  <a:srgbClr val="1B3C73"/>
                </a:solidFill>
              </a:defRPr>
            </a:pPr>
            <a:r>
              <a:t>Formal Hypotheses (H1 - H5)</a:t>
            </a:r>
          </a:p>
          <a:p>
            <a:pPr>
              <a:spcAft>
                <a:spcPts val="600"/>
              </a:spcAft>
              <a:defRPr sz="1100">
                <a:solidFill>
                  <a:srgbClr val="282828"/>
                </a:solidFill>
              </a:defRPr>
            </a:pPr>
            <a:r>
              <a:t>•  H1 (Agency Lag): Agencies adjust with substantial delay; a PIT shadow rating leads published actions with a measurable half-life.</a:t>
            </a:r>
          </a:p>
          <a:p>
            <a:pPr>
              <a:spcAft>
                <a:spcPts val="600"/>
              </a:spcAft>
              <a:defRPr sz="1100">
                <a:solidFill>
                  <a:srgbClr val="282828"/>
                </a:solidFill>
              </a:defRPr>
            </a:pPr>
            <a:r>
              <a:t>•  H2 (Macro Block): Macro series carry statistically significant incremental explanatory power (verified via Likelihood Ratio tests).</a:t>
            </a:r>
          </a:p>
          <a:p>
            <a:pPr>
              <a:spcAft>
                <a:spcPts val="600"/>
              </a:spcAft>
              <a:defRPr sz="1100">
                <a:solidFill>
                  <a:srgbClr val="282828"/>
                </a:solidFill>
              </a:defRPr>
            </a:pPr>
            <a:r>
              <a:t>•  H3 (Heterogeneity): Macro sensitivity is significantly magnified in high-leverage and low interest-coverage firms.</a:t>
            </a:r>
          </a:p>
          <a:p>
            <a:pPr>
              <a:spcAft>
                <a:spcPts val="600"/>
              </a:spcAft>
              <a:defRPr sz="1100">
                <a:solidFill>
                  <a:srgbClr val="282828"/>
                </a:solidFill>
              </a:defRPr>
            </a:pPr>
            <a:r>
              <a:t>•  H4 (Watch Information): CreditWatch and Outlook are distinct intermediate informational states that accelerate transition signals.</a:t>
            </a:r>
          </a:p>
          <a:p>
            <a:pPr>
              <a:spcAft>
                <a:spcPts val="600"/>
              </a:spcAft>
              <a:defRPr sz="1100">
                <a:solidFill>
                  <a:srgbClr val="282828"/>
                </a:solidFill>
              </a:defRPr>
            </a:pPr>
            <a:r>
              <a:t>•  H5 (Economic Value): Macro-augmented early warning delivers actionable lead time prior to agency rating downgrades.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1. ACADEMIC CONTRIBUTIONS</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Novel Methodological &amp; Empirical Contributions</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4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Methodological Innovations</a:t>
            </a:r>
          </a:p>
          <a:p>
            <a:pPr>
              <a:spcAft>
                <a:spcPts val="600"/>
              </a:spcAft>
              <a:defRPr sz="1100">
                <a:solidFill>
                  <a:srgbClr val="282828"/>
                </a:solidFill>
              </a:defRPr>
            </a:pPr>
            <a:r>
              <a:t>•  N1 – Latent Shadow Rating &amp; Half-Life: Continuous latent credit index yielding empirical partial-adjustment speeds and agency half-lives.</a:t>
            </a:r>
          </a:p>
          <a:p>
            <a:pPr>
              <a:spcAft>
                <a:spcPts val="600"/>
              </a:spcAft>
              <a:defRPr sz="1100">
                <a:solidFill>
                  <a:srgbClr val="282828"/>
                </a:solidFill>
              </a:defRPr>
            </a:pPr>
            <a:r>
              <a:t>•  N2 – Watch/Outlook Multi-State System: Treating CreditWatch and Outlook as distinct dynamic states rather than static footnotes.</a:t>
            </a:r>
          </a:p>
          <a:p>
            <a:pPr>
              <a:spcAft>
                <a:spcPts val="600"/>
              </a:spcAft>
              <a:defRPr sz="1100">
                <a:solidFill>
                  <a:srgbClr val="282828"/>
                </a:solidFill>
              </a:defRPr>
            </a:pPr>
            <a:r>
              <a:t>•  N3 – Point-in-Time Macro Real-Time Discipline: Alignment to ALFRED and FRED release vintages, avoiding macroeconomic revision look-ahead.</a:t>
            </a:r>
          </a:p>
          <a:p>
            <a:pPr>
              <a:spcAft>
                <a:spcPts val="600"/>
              </a:spcAft>
              <a:defRPr sz="1100">
                <a:solidFill>
                  <a:srgbClr val="282828"/>
                </a:solidFill>
              </a:defRPr>
            </a:pPr>
            <a:r>
              <a:t>•  N4 – Coherent VAR Stress Scenarios: Vector Autoregression conditional forecasts (Waggoner-Zha) ensuring joint co-movement of policy and credit spreads.</a:t>
            </a:r>
          </a:p>
        </p:txBody>
      </p:sp>
      <p:sp>
        <p:nvSpPr>
          <p:cNvPr id="8" name="Rounded Rectangle 7"/>
          <p:cNvSpPr/>
          <p:nvPr/>
        </p:nvSpPr>
        <p:spPr>
          <a:xfrm>
            <a:off x="6126480" y="1280160"/>
            <a:ext cx="530352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417320"/>
            <a:ext cx="4937760" cy="4663440"/>
          </a:xfrm>
          <a:prstGeom prst="rect">
            <a:avLst/>
          </a:prstGeom>
          <a:noFill/>
        </p:spPr>
        <p:txBody>
          <a:bodyPr wrap="square">
            <a:spAutoFit/>
          </a:bodyPr>
          <a:lstStyle/>
          <a:p>
            <a:pPr>
              <a:spcAft>
                <a:spcPts val="800"/>
              </a:spcAft>
              <a:defRPr sz="1400" b="1">
                <a:solidFill>
                  <a:srgbClr val="1B3C73"/>
                </a:solidFill>
              </a:defRPr>
            </a:pPr>
            <a:r>
              <a:t>Applied &amp; Quantitative Rigor</a:t>
            </a:r>
          </a:p>
          <a:p>
            <a:pPr>
              <a:spcAft>
                <a:spcPts val="600"/>
              </a:spcAft>
              <a:defRPr sz="1100">
                <a:solidFill>
                  <a:srgbClr val="282828"/>
                </a:solidFill>
              </a:defRPr>
            </a:pPr>
            <a:r>
              <a:t>•  N5 – Reverse Stress Testing: Solving the minimum-norm macroeconomic shock required to precipitate severe target fallen-angel rates.</a:t>
            </a:r>
          </a:p>
          <a:p>
            <a:pPr>
              <a:spcAft>
                <a:spcPts val="600"/>
              </a:spcAft>
              <a:defRPr sz="1100">
                <a:solidFill>
                  <a:srgbClr val="282828"/>
                </a:solidFill>
              </a:defRPr>
            </a:pPr>
            <a:r>
              <a:t>•  N6 – Quantified Early-Warning Lead Time: Measuring exact quarterly lead-time distribution of quantitative alerts vs agency CreditWatch.</a:t>
            </a:r>
          </a:p>
          <a:p>
            <a:pPr>
              <a:spcAft>
                <a:spcPts val="600"/>
              </a:spcAft>
              <a:defRPr sz="1100">
                <a:solidFill>
                  <a:srgbClr val="282828"/>
                </a:solidFill>
              </a:defRPr>
            </a:pPr>
            <a:r>
              <a:t>•  N7 – Verification &amp; Auditability Standards: Known-DGP Monte Carlo parameter recovery, strict embargoes, and a zero-hand-typed-number Claim Ledger.</a:t>
            </a:r>
          </a:p>
          <a:p>
            <a:pPr>
              <a:spcAft>
                <a:spcPts val="600"/>
              </a:spcAft>
              <a:defRPr sz="1100">
                <a:solidFill>
                  <a:srgbClr val="282828"/>
                </a:solidFill>
              </a:defRPr>
            </a:pPr>
            <a:r>
              <a:t>•  Open Reproducibility: Full end-to-end Python pipeline from raw parquet assembly to publication PDF and presentation deck.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2. DATA PIPELINE</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Data Architecture: Fundamental, Ratings &amp; Macro Integration</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5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Data Pipeline Architecture</a:t>
            </a:r>
          </a:p>
          <a:p>
            <a:pPr>
              <a:spcAft>
                <a:spcPts val="600"/>
              </a:spcAft>
              <a:defRPr sz="1100">
                <a:solidFill>
                  <a:srgbClr val="282828"/>
                </a:solidFill>
              </a:defRPr>
            </a:pPr>
            <a:r>
              <a:t>•  Compustat North America Fundamentals: 700 US non-financial, non-utility corporate issuers (2000Q1-2025Q4).</a:t>
            </a:r>
          </a:p>
          <a:p>
            <a:pPr>
              <a:spcAft>
                <a:spcPts val="600"/>
              </a:spcAft>
              <a:defRPr sz="1100">
                <a:solidFill>
                  <a:srgbClr val="282828"/>
                </a:solidFill>
              </a:defRPr>
            </a:pPr>
            <a:r>
              <a:t>•  S&amp;P Issuer Credit Ratings: Long-term domestic issuer ratings mapped to 21-point numeric scale (1=AAA to 21=C, 22=D).</a:t>
            </a:r>
          </a:p>
          <a:p>
            <a:pPr>
              <a:spcAft>
                <a:spcPts val="600"/>
              </a:spcAft>
              <a:defRPr sz="1100">
                <a:solidFill>
                  <a:srgbClr val="282828"/>
                </a:solidFill>
              </a:defRPr>
            </a:pPr>
            <a:r>
              <a:t>•  FRED Macro-Financial Series: Effective Federal Funds Rate (FEDFUNDS), 10Y Treasury (DGS10), Yield Curve Slope (T10Y2Y), ICE BofA High Yield OAS (BAMLH0A0HYM2), Baa-10Y Spread, Real GDP Growth, and CPI Inflation.</a:t>
            </a:r>
          </a:p>
          <a:p>
            <a:pPr>
              <a:spcAft>
                <a:spcPts val="600"/>
              </a:spcAft>
              <a:defRPr sz="1100">
                <a:solidFill>
                  <a:srgbClr val="282828"/>
                </a:solidFill>
              </a:defRPr>
            </a:pPr>
            <a:r>
              <a:t>•  Exact As-Of Merging: Quarterly alignment based on filing availability date (rdq) or conservative 90-day lag to strictly prevent look-ahead bias.</a:t>
            </a:r>
          </a:p>
          <a:p>
            <a:pPr>
              <a:spcAft>
                <a:spcPts val="600"/>
              </a:spcAft>
              <a:defRPr sz="1100">
                <a:solidFill>
                  <a:srgbClr val="282828"/>
                </a:solidFill>
              </a:defRPr>
            </a:pPr>
            <a:r>
              <a:t>•  Clean Panel: 66,706 firm-quarter observations spanning 104 quarters of diverse monetary regimes.</a:t>
            </a:r>
          </a:p>
        </p:txBody>
      </p:sp>
      <p:pic>
        <p:nvPicPr>
          <p:cNvPr id="8" name="Picture 7" descr="fig2_macro_series.png"/>
          <p:cNvPicPr>
            <a:picLocks noChangeAspect="1"/>
          </p:cNvPicPr>
          <p:nvPr/>
        </p:nvPicPr>
        <p:blipFill>
          <a:blip r:embed="rId2"/>
          <a:stretch>
            <a:fillRect/>
          </a:stretch>
        </p:blipFill>
        <p:spPr>
          <a:xfrm>
            <a:off x="6126480" y="1280160"/>
            <a:ext cx="5303520" cy="49377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2. TARGET DEFINITIONS</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Rating Scale, CreditWatch, and Outlook Taxonomy</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6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S&amp;P Rating Mapping Architecture</a:t>
            </a:r>
          </a:p>
          <a:p>
            <a:pPr>
              <a:spcAft>
                <a:spcPts val="600"/>
              </a:spcAft>
              <a:defRPr sz="1100">
                <a:solidFill>
                  <a:srgbClr val="282828"/>
                </a:solidFill>
              </a:defRPr>
            </a:pPr>
            <a:r>
              <a:t>•  Investment Grade (IG): rating_num in [1, 10] (AAA, AA+, AA, AA-, A+, A, A-, BBB+, BBB, BBB-).</a:t>
            </a:r>
          </a:p>
          <a:p>
            <a:pPr>
              <a:spcAft>
                <a:spcPts val="600"/>
              </a:spcAft>
              <a:defRPr sz="1100">
                <a:solidFill>
                  <a:srgbClr val="282828"/>
                </a:solidFill>
              </a:defRPr>
            </a:pPr>
            <a:r>
              <a:t>•  High Yield (HY / Speculative): rating_num in [11, 21] (BB+, BB, BB-, B+, B, B-, CCC+, CCC, CCC-, CC, C).</a:t>
            </a:r>
          </a:p>
          <a:p>
            <a:pPr>
              <a:spcAft>
                <a:spcPts val="600"/>
              </a:spcAft>
              <a:defRPr sz="1100">
                <a:solidFill>
                  <a:srgbClr val="282828"/>
                </a:solidFill>
              </a:defRPr>
            </a:pPr>
            <a:r>
              <a:t>•  The Critical Cliff: BBB- (rating_num = 10) vs BB+ (rating_num = 11).</a:t>
            </a:r>
          </a:p>
          <a:p>
            <a:pPr>
              <a:spcAft>
                <a:spcPts val="600"/>
              </a:spcAft>
              <a:defRPr sz="1100">
                <a:solidFill>
                  <a:srgbClr val="282828"/>
                </a:solidFill>
              </a:defRPr>
            </a:pPr>
            <a:r>
              <a:t>•  Fallen Angel Definition: A corporate issuer rated Investment Grade (&lt;= 10) at time t that migrates to High Yield (&gt;= 11) within horizon h (12 months).</a:t>
            </a:r>
          </a:p>
          <a:p>
            <a:pPr>
              <a:spcAft>
                <a:spcPts val="600"/>
              </a:spcAft>
              <a:defRPr sz="1100">
                <a:solidFill>
                  <a:srgbClr val="282828"/>
                </a:solidFill>
              </a:defRPr>
            </a:pPr>
            <a:r>
              <a:t>•  Total Fallen Angel Events: 1,400 realised 12-month crossings across sample history.</a:t>
            </a:r>
          </a:p>
          <a:p>
            <a:pPr>
              <a:spcAft>
                <a:spcPts val="600"/>
              </a:spcAft>
              <a:defRPr sz="1100">
                <a:solidFill>
                  <a:srgbClr val="282828"/>
                </a:solidFill>
              </a:defRPr>
            </a:pPr>
            <a:r>
              <a:t>•  Total Downgrades: 10,620 one-or-more notch rating downgrades.</a:t>
            </a:r>
          </a:p>
        </p:txBody>
      </p:sp>
      <p:sp>
        <p:nvSpPr>
          <p:cNvPr id="8" name="Rounded Rectangle 7"/>
          <p:cNvSpPr/>
          <p:nvPr/>
        </p:nvSpPr>
        <p:spPr>
          <a:xfrm>
            <a:off x="6126480" y="1280160"/>
            <a:ext cx="530352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417320"/>
            <a:ext cx="4937760" cy="4663440"/>
          </a:xfrm>
          <a:prstGeom prst="rect">
            <a:avLst/>
          </a:prstGeom>
          <a:noFill/>
        </p:spPr>
        <p:txBody>
          <a:bodyPr wrap="square">
            <a:spAutoFit/>
          </a:bodyPr>
          <a:lstStyle/>
          <a:p>
            <a:pPr>
              <a:spcAft>
                <a:spcPts val="800"/>
              </a:spcAft>
              <a:defRPr sz="1400" b="1">
                <a:solidFill>
                  <a:srgbClr val="1B3C73"/>
                </a:solidFill>
              </a:defRPr>
            </a:pPr>
            <a:r>
              <a:t>CreditWatch and Outlook Taxonomy</a:t>
            </a:r>
          </a:p>
          <a:p>
            <a:pPr>
              <a:spcAft>
                <a:spcPts val="600"/>
              </a:spcAft>
              <a:defRPr sz="1100">
                <a:solidFill>
                  <a:srgbClr val="282828"/>
                </a:solidFill>
              </a:defRPr>
            </a:pPr>
            <a:r>
              <a:t>•  CreditWatch Negative: Agency signal indicating an imminent rating change (typically 90-day horizon) with &gt;=50% downgrade probability.</a:t>
            </a:r>
          </a:p>
          <a:p>
            <a:pPr>
              <a:spcAft>
                <a:spcPts val="600"/>
              </a:spcAft>
              <a:defRPr sz="1100">
                <a:solidFill>
                  <a:srgbClr val="282828"/>
                </a:solidFill>
              </a:defRPr>
            </a:pPr>
            <a:r>
              <a:t>•  CreditWatch Positive: Imminent upward revision signal.</a:t>
            </a:r>
          </a:p>
          <a:p>
            <a:pPr>
              <a:spcAft>
                <a:spcPts val="600"/>
              </a:spcAft>
              <a:defRPr sz="1100">
                <a:solidFill>
                  <a:srgbClr val="282828"/>
                </a:solidFill>
              </a:defRPr>
            </a:pPr>
            <a:r>
              <a:t>•  Negative Outlook: Medium-term expectation (6-24 months) of fundamental credit deterioration.</a:t>
            </a:r>
          </a:p>
          <a:p>
            <a:pPr>
              <a:spcAft>
                <a:spcPts val="600"/>
              </a:spcAft>
              <a:defRPr sz="1100">
                <a:solidFill>
                  <a:srgbClr val="282828"/>
                </a:solidFill>
              </a:defRPr>
            </a:pPr>
            <a:r>
              <a:t>•  Intermediate State Encoding: Rather than treating CreditWatch as an exogenous shock, we model it as an explicit endogenous state in our M2 migration framework.</a:t>
            </a:r>
          </a:p>
          <a:p>
            <a:pPr>
              <a:spcAft>
                <a:spcPts val="600"/>
              </a:spcAft>
              <a:defRPr sz="1100">
                <a:solidFill>
                  <a:srgbClr val="282828"/>
                </a:solidFill>
              </a:defRPr>
            </a:pPr>
            <a:r>
              <a:t>•  Competing Exits: Default (SD/D) and rating withdrawals (NR) are formally accounted for in the attrition and migration matrices.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2. EMPIRICAL SAMPLE</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Sample Construction, Attrition Protocol &amp; Summary Statistics</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7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Attrition &amp; Sample Filtering</a:t>
            </a:r>
          </a:p>
          <a:p>
            <a:pPr>
              <a:spcAft>
                <a:spcPts val="600"/>
              </a:spcAft>
              <a:defRPr sz="1100">
                <a:solidFill>
                  <a:srgbClr val="282828"/>
                </a:solidFill>
              </a:defRPr>
            </a:pPr>
            <a:r>
              <a:t>•  Initial Universe: All US non-financial, non-utility corporate issuers with Compustat &amp; S&amp;P rating history (98,500 firm-quarters).</a:t>
            </a:r>
          </a:p>
          <a:p>
            <a:pPr>
              <a:spcAft>
                <a:spcPts val="600"/>
              </a:spcAft>
              <a:defRPr sz="1100">
                <a:solidFill>
                  <a:srgbClr val="282828"/>
                </a:solidFill>
              </a:defRPr>
            </a:pPr>
            <a:r>
              <a:t>•  Fundamentals Completeness: Requiring non-missing assets, debt, EBITDA, and interest expense leaves 79,240 firm-quarters.</a:t>
            </a:r>
          </a:p>
          <a:p>
            <a:pPr>
              <a:spcAft>
                <a:spcPts val="600"/>
              </a:spcAft>
              <a:defRPr sz="1100">
                <a:solidFill>
                  <a:srgbClr val="282828"/>
                </a:solidFill>
              </a:defRPr>
            </a:pPr>
            <a:r>
              <a:t>•  Rating Continuity: Retaining observations with continuous quarterly S&amp;P ratings leaves 71,850 firm-quarters.</a:t>
            </a:r>
          </a:p>
          <a:p>
            <a:pPr>
              <a:spcAft>
                <a:spcPts val="600"/>
              </a:spcAft>
              <a:defRPr sz="1100">
                <a:solidFill>
                  <a:srgbClr val="282828"/>
                </a:solidFill>
              </a:defRPr>
            </a:pPr>
            <a:r>
              <a:t>•  Expanding Winsorisation: Outliers treated via 1%/99% winsorisation calibrated strictly on the training sample window.</a:t>
            </a:r>
          </a:p>
          <a:p>
            <a:pPr>
              <a:spcAft>
                <a:spcPts val="600"/>
              </a:spcAft>
              <a:defRPr sz="1100">
                <a:solidFill>
                  <a:srgbClr val="282828"/>
                </a:solidFill>
              </a:defRPr>
            </a:pPr>
            <a:r>
              <a:t>•  Final Panel: 66,706 firm-quarters across 698 unique firms; 68.4% net sample retention rate.</a:t>
            </a:r>
          </a:p>
        </p:txBody>
      </p:sp>
      <p:sp>
        <p:nvSpPr>
          <p:cNvPr id="8" name="Rounded Rectangle 7"/>
          <p:cNvSpPr/>
          <p:nvPr/>
        </p:nvSpPr>
        <p:spPr>
          <a:xfrm>
            <a:off x="6126480" y="1280160"/>
            <a:ext cx="530352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417320"/>
            <a:ext cx="4937760" cy="4663440"/>
          </a:xfrm>
          <a:prstGeom prst="rect">
            <a:avLst/>
          </a:prstGeom>
          <a:noFill/>
        </p:spPr>
        <p:txBody>
          <a:bodyPr wrap="square">
            <a:spAutoFit/>
          </a:bodyPr>
          <a:lstStyle/>
          <a:p>
            <a:pPr>
              <a:spcAft>
                <a:spcPts val="800"/>
              </a:spcAft>
              <a:defRPr sz="1400" b="1">
                <a:solidFill>
                  <a:srgbClr val="1B3C73"/>
                </a:solidFill>
              </a:defRPr>
            </a:pPr>
            <a:r>
              <a:t>Descriptive Statistics Summary</a:t>
            </a:r>
          </a:p>
          <a:p>
            <a:pPr>
              <a:spcAft>
                <a:spcPts val="600"/>
              </a:spcAft>
              <a:defRPr sz="1100">
                <a:solidFill>
                  <a:srgbClr val="282828"/>
                </a:solidFill>
              </a:defRPr>
            </a:pPr>
            <a:r>
              <a:t>•  Leverage (Debt/EBITDA): Mean = 2.84x, Median = 2.45x, IQR = [1.62x, 3.65x].</a:t>
            </a:r>
          </a:p>
          <a:p>
            <a:pPr>
              <a:spcAft>
                <a:spcPts val="600"/>
              </a:spcAft>
              <a:defRPr sz="1100">
                <a:solidFill>
                  <a:srgbClr val="282828"/>
                </a:solidFill>
              </a:defRPr>
            </a:pPr>
            <a:r>
              <a:t>•  Interest Coverage (EBIT/Interest): Mean = 6.42x, Median = 4.85x.</a:t>
            </a:r>
          </a:p>
          <a:p>
            <a:pPr>
              <a:spcAft>
                <a:spcPts val="600"/>
              </a:spcAft>
              <a:defRPr sz="1100">
                <a:solidFill>
                  <a:srgbClr val="282828"/>
                </a:solidFill>
              </a:defRPr>
            </a:pPr>
            <a:r>
              <a:t>•  Firm Size (ln(Assets)): Mean = 8.65 ($5.7B assets), Std Dev = 1.35.</a:t>
            </a:r>
          </a:p>
          <a:p>
            <a:pPr>
              <a:spcAft>
                <a:spcPts val="600"/>
              </a:spcAft>
              <a:defRPr sz="1100">
                <a:solidFill>
                  <a:srgbClr val="282828"/>
                </a:solidFill>
              </a:defRPr>
            </a:pPr>
            <a:r>
              <a:t>•  Profitability (ROA): Mean = 5.2%, Median = 4.8%.</a:t>
            </a:r>
          </a:p>
          <a:p>
            <a:pPr>
              <a:spcAft>
                <a:spcPts val="600"/>
              </a:spcAft>
              <a:defRPr sz="1100">
                <a:solidFill>
                  <a:srgbClr val="282828"/>
                </a:solidFill>
              </a:defRPr>
            </a:pPr>
            <a:r>
              <a:t>•  Fed Funds Rate: Mean = 1.78%, Min = 0.05%, Max = 5.33%.</a:t>
            </a:r>
          </a:p>
          <a:p>
            <a:pPr>
              <a:spcAft>
                <a:spcPts val="600"/>
              </a:spcAft>
              <a:defRPr sz="1100">
                <a:solidFill>
                  <a:srgbClr val="282828"/>
                </a:solidFill>
              </a:defRPr>
            </a:pPr>
            <a:r>
              <a:t>•  HY OAS Spread: Mean = 452 bp, Min = 245 bp, Max = 1,980 bp (GFC spike).</a:t>
            </a:r>
          </a:p>
          <a:p>
            <a:pPr>
              <a:spcAft>
                <a:spcPts val="600"/>
              </a:spcAft>
              <a:defRPr sz="1100">
                <a:solidFill>
                  <a:srgbClr val="282828"/>
                </a:solidFill>
              </a:defRPr>
            </a:pPr>
            <a:r>
              <a:t>•  All variables pass stationary / standardisation audit on the training window.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3. ECONOMETRIC DESIGN</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Empirical Validation Design &amp; Leakage Prevention Protocol</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8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Validation Split &amp; Temporal Architecture</a:t>
            </a:r>
          </a:p>
          <a:p>
            <a:pPr>
              <a:spcAft>
                <a:spcPts val="600"/>
              </a:spcAft>
              <a:defRPr sz="1100">
                <a:solidFill>
                  <a:srgbClr val="282828"/>
                </a:solidFill>
              </a:defRPr>
            </a:pPr>
            <a:r>
              <a:t>•  No Random K-Fold Splitting: Random cross-validation induces massive time-series autocorrelation and label leakage in credit models.</a:t>
            </a:r>
          </a:p>
          <a:p>
            <a:pPr>
              <a:spcAft>
                <a:spcPts val="600"/>
              </a:spcAft>
              <a:defRPr sz="1100">
                <a:solidFill>
                  <a:srgbClr val="282828"/>
                </a:solidFill>
              </a:defRPr>
            </a:pPr>
            <a:r>
              <a:t>•  Expanding-Window Split Architecture:</a:t>
            </a:r>
          </a:p>
          <a:p>
            <a:pPr>
              <a:spcAft>
                <a:spcPts val="600"/>
              </a:spcAft>
              <a:defRPr sz="1100">
                <a:solidFill>
                  <a:srgbClr val="282828"/>
                </a:solidFill>
              </a:defRPr>
            </a:pPr>
            <a:r>
              <a:t>•    • Training Window: 2000Q1 – 2014Q4 (32,321 firm-quarters; includes 2001 dot-com &amp; 2008 GFC).</a:t>
            </a:r>
          </a:p>
          <a:p>
            <a:pPr>
              <a:spcAft>
                <a:spcPts val="600"/>
              </a:spcAft>
              <a:defRPr sz="1100">
                <a:solidFill>
                  <a:srgbClr val="282828"/>
                </a:solidFill>
              </a:defRPr>
            </a:pPr>
            <a:r>
              <a:t>•    • Validation Window: 2015Q1 – 2019Q4 (12,308 firm-quarters; calibration &amp; hyperparameter tuning).</a:t>
            </a:r>
          </a:p>
          <a:p>
            <a:pPr>
              <a:spcAft>
                <a:spcPts val="600"/>
              </a:spcAft>
              <a:defRPr sz="1100">
                <a:solidFill>
                  <a:srgbClr val="282828"/>
                </a:solidFill>
              </a:defRPr>
            </a:pPr>
            <a:r>
              <a:t>•    • Out-of-Sample Test Window: 2020Q1 – 2025Q4 (13,873 firm-quarters; COVID shock + 2022-2023 525bp Fed tightening).</a:t>
            </a:r>
          </a:p>
          <a:p>
            <a:pPr>
              <a:spcAft>
                <a:spcPts val="600"/>
              </a:spcAft>
              <a:defRPr sz="1100">
                <a:solidFill>
                  <a:srgbClr val="282828"/>
                </a:solidFill>
              </a:defRPr>
            </a:pPr>
            <a:r>
              <a:t>•  Strict Embargo Period: 4-quarter buffer enforced between splits to prevent forward label overlap (12m target window).</a:t>
            </a:r>
          </a:p>
        </p:txBody>
      </p:sp>
      <p:sp>
        <p:nvSpPr>
          <p:cNvPr id="8" name="Rounded Rectangle 7"/>
          <p:cNvSpPr/>
          <p:nvPr/>
        </p:nvSpPr>
        <p:spPr>
          <a:xfrm>
            <a:off x="6126480" y="1280160"/>
            <a:ext cx="530352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417320"/>
            <a:ext cx="4937760" cy="4663440"/>
          </a:xfrm>
          <a:prstGeom prst="rect">
            <a:avLst/>
          </a:prstGeom>
          <a:noFill/>
        </p:spPr>
        <p:txBody>
          <a:bodyPr wrap="square">
            <a:spAutoFit/>
          </a:bodyPr>
          <a:lstStyle/>
          <a:p>
            <a:pPr>
              <a:spcAft>
                <a:spcPts val="800"/>
              </a:spcAft>
              <a:defRPr sz="1400" b="1">
                <a:solidFill>
                  <a:srgbClr val="1B3C73"/>
                </a:solidFill>
              </a:defRPr>
            </a:pPr>
            <a:r>
              <a:t>Leakage Prevention Safeguards</a:t>
            </a:r>
          </a:p>
          <a:p>
            <a:pPr>
              <a:spcAft>
                <a:spcPts val="600"/>
              </a:spcAft>
              <a:defRPr sz="1100">
                <a:solidFill>
                  <a:srgbClr val="282828"/>
                </a:solidFill>
              </a:defRPr>
            </a:pPr>
            <a:r>
              <a:t>•  Rule 1 (Feature Availability): Feature timestamp &lt;= observation date t. Accounting filings strictly gated by earnings release date.</a:t>
            </a:r>
          </a:p>
          <a:p>
            <a:pPr>
              <a:spcAft>
                <a:spcPts val="600"/>
              </a:spcAft>
              <a:defRPr sz="1100">
                <a:solidFill>
                  <a:srgbClr val="282828"/>
                </a:solidFill>
              </a:defRPr>
            </a:pPr>
            <a:r>
              <a:t>•  Rule 2 (Label Timing): Target variable y measured strictly over (t, t+4Q].</a:t>
            </a:r>
          </a:p>
          <a:p>
            <a:pPr>
              <a:spcAft>
                <a:spcPts val="600"/>
              </a:spcAft>
              <a:defRPr sz="1100">
                <a:solidFill>
                  <a:srgbClr val="282828"/>
                </a:solidFill>
              </a:defRPr>
            </a:pPr>
            <a:r>
              <a:t>•  Rule 3 (Transformer Freezing): Standard scalers and winsor cutoffs fitted on training split only and applied frozen to test.</a:t>
            </a:r>
          </a:p>
          <a:p>
            <a:pPr>
              <a:spcAft>
                <a:spcPts val="600"/>
              </a:spcAft>
              <a:defRPr sz="1100">
                <a:solidFill>
                  <a:srgbClr val="282828"/>
                </a:solidFill>
              </a:defRPr>
            </a:pPr>
            <a:r>
              <a:t>•  Rule 4 (Double Clustering): Standard errors double-clustered by firm and calendar quarter to account for cross-sectional and macro correlation.</a:t>
            </a:r>
          </a:p>
          <a:p>
            <a:pPr>
              <a:spcAft>
                <a:spcPts val="600"/>
              </a:spcAft>
              <a:defRPr sz="1100">
                <a:solidFill>
                  <a:srgbClr val="282828"/>
                </a:solidFill>
              </a:defRPr>
            </a:pPr>
            <a:r>
              <a:t>•  Automated Test Suite: Validated by 12 independent leakage assertions in Python pytest suite.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4. ECONOMETRIC RESULTS</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Ordered Probit Baseline: Rating Determinants (Kaplan-Urwitz)</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9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Model Specification &amp; Core Determinants</a:t>
            </a:r>
          </a:p>
          <a:p>
            <a:pPr>
              <a:spcAft>
                <a:spcPts val="600"/>
              </a:spcAft>
              <a:defRPr sz="1100">
                <a:solidFill>
                  <a:srgbClr val="282828"/>
                </a:solidFill>
              </a:defRPr>
            </a:pPr>
            <a:r>
              <a:t>•  Ordered Probit formulation in the tradition of Kaplan &amp; Urwitz (1979) and Blume et al. (1998):</a:t>
            </a:r>
          </a:p>
          <a:p>
            <a:pPr>
              <a:spcAft>
                <a:spcPts val="600"/>
              </a:spcAft>
              <a:defRPr sz="1100">
                <a:solidFill>
                  <a:srgbClr val="282828"/>
                </a:solidFill>
              </a:defRPr>
            </a:pPr>
            <a:r>
              <a:t>•  P(Rating = k) = Phi(c_k - X_it * beta) - Phi(c_{k-1} - X_it * beta)</a:t>
            </a:r>
          </a:p>
          <a:p>
            <a:pPr>
              <a:spcAft>
                <a:spcPts val="600"/>
              </a:spcAft>
              <a:defRPr sz="1100">
                <a:solidFill>
                  <a:srgbClr val="282828"/>
                </a:solidFill>
              </a:defRPr>
            </a:pPr>
            <a:r>
              <a:t>•  Firm Financial Predictors (All statistically significant at p &lt; 0.001):</a:t>
            </a:r>
          </a:p>
          <a:p>
            <a:pPr>
              <a:spcAft>
                <a:spcPts val="600"/>
              </a:spcAft>
              <a:defRPr sz="1100">
                <a:solidFill>
                  <a:srgbClr val="282828"/>
                </a:solidFill>
              </a:defRPr>
            </a:pPr>
            <a:r>
              <a:t>•    • Leverage (Debt / EBITDA): beta = +0.318 (t = 13.2) -&gt; Higher leverage pushes into lower rating categories.</a:t>
            </a:r>
          </a:p>
          <a:p>
            <a:pPr>
              <a:spcAft>
                <a:spcPts val="600"/>
              </a:spcAft>
              <a:defRPr sz="1100">
                <a:solidFill>
                  <a:srgbClr val="282828"/>
                </a:solidFill>
              </a:defRPr>
            </a:pPr>
            <a:r>
              <a:t>•    • Interest Coverage: beta = -0.264 (t = -13.9) -&gt; Strong debt service cushion protects ratings.</a:t>
            </a:r>
          </a:p>
          <a:p>
            <a:pPr>
              <a:spcAft>
                <a:spcPts val="600"/>
              </a:spcAft>
              <a:defRPr sz="1100">
                <a:solidFill>
                  <a:srgbClr val="282828"/>
                </a:solidFill>
              </a:defRPr>
            </a:pPr>
            <a:r>
              <a:t>•    • Firm Size (ln(Assets)): beta = -0.398 (t = -22.1) -&gt; Large diversified issuers command rating premia.</a:t>
            </a:r>
          </a:p>
          <a:p>
            <a:pPr>
              <a:spcAft>
                <a:spcPts val="600"/>
              </a:spcAft>
              <a:defRPr sz="1100">
                <a:solidFill>
                  <a:srgbClr val="282828"/>
                </a:solidFill>
              </a:defRPr>
            </a:pPr>
            <a:r>
              <a:t>•    • Profitability (ROA): beta = -0.195 (t = -8.9) -&gt; Operating margins reinforce credit quality.</a:t>
            </a:r>
          </a:p>
          <a:p>
            <a:pPr>
              <a:spcAft>
                <a:spcPts val="600"/>
              </a:spcAft>
              <a:defRPr sz="1100">
                <a:solidFill>
                  <a:srgbClr val="282828"/>
                </a:solidFill>
              </a:defRPr>
            </a:pPr>
            <a:r>
              <a:t>•  Baseline Pseudo R2: McFadden Pseudo R2 = 0.248 for firm-only model.</a:t>
            </a:r>
          </a:p>
        </p:txBody>
      </p:sp>
      <p:sp>
        <p:nvSpPr>
          <p:cNvPr id="8" name="Rounded Rectangle 7"/>
          <p:cNvSpPr/>
          <p:nvPr/>
        </p:nvSpPr>
        <p:spPr>
          <a:xfrm>
            <a:off x="6126480" y="1280160"/>
            <a:ext cx="530352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417320"/>
            <a:ext cx="4937760" cy="4663440"/>
          </a:xfrm>
          <a:prstGeom prst="rect">
            <a:avLst/>
          </a:prstGeom>
          <a:noFill/>
        </p:spPr>
        <p:txBody>
          <a:bodyPr wrap="square">
            <a:spAutoFit/>
          </a:bodyPr>
          <a:lstStyle/>
          <a:p>
            <a:pPr>
              <a:spcAft>
                <a:spcPts val="800"/>
              </a:spcAft>
              <a:defRPr sz="1400" b="1">
                <a:solidFill>
                  <a:srgbClr val="1B3C73"/>
                </a:solidFill>
              </a:defRPr>
            </a:pPr>
            <a:r>
              <a:t>Economic Takeaways &amp; Proportional Odds</a:t>
            </a:r>
          </a:p>
          <a:p>
            <a:pPr>
              <a:spcAft>
                <a:spcPts val="600"/>
              </a:spcAft>
              <a:defRPr sz="1100">
                <a:solidFill>
                  <a:srgbClr val="282828"/>
                </a:solidFill>
              </a:defRPr>
            </a:pPr>
            <a:r>
              <a:t>•  Estimated threshold cutpoints c_1 to c_20 display uniform spacing across the middle rating spectrum (BBB to BB).</a:t>
            </a:r>
          </a:p>
          <a:p>
            <a:pPr>
              <a:spcAft>
                <a:spcPts val="600"/>
              </a:spcAft>
              <a:defRPr sz="1100">
                <a:solidFill>
                  <a:srgbClr val="282828"/>
                </a:solidFill>
              </a:defRPr>
            </a:pPr>
            <a:r>
              <a:t>•  Threshold gap between BBB- (cutpoint 9) and BB+ (cutpoint 10) is significantly wider (Delta = 0.48 vs mean 0.32), reflecting agency reluctance to downgrade across the investment-grade cliff.</a:t>
            </a:r>
          </a:p>
          <a:p>
            <a:pPr>
              <a:spcAft>
                <a:spcPts val="600"/>
              </a:spcAft>
              <a:defRPr sz="1100">
                <a:solidFill>
                  <a:srgbClr val="282828"/>
                </a:solidFill>
              </a:defRPr>
            </a:pPr>
            <a:r>
              <a:t>•  Ordered Logit estimates estimated side-by-side yield identical economic rankings and marginal probabilities.</a:t>
            </a:r>
          </a:p>
          <a:p>
            <a:pPr>
              <a:spcAft>
                <a:spcPts val="600"/>
              </a:spcAft>
              <a:defRPr sz="1100">
                <a:solidFill>
                  <a:srgbClr val="282828"/>
                </a:solidFill>
              </a:defRPr>
            </a:pPr>
            <a:r>
              <a:t>•  Brant test diagnostics confirm that proportional odds assumptions hold adequately across the core BBB/BB boundaries.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4. ECONOMETRIC RESULTS</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Macro Block Incremental Explanatory Power &amp; Statistical Tests</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10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Macro Block Augmentation Results</a:t>
            </a:r>
          </a:p>
          <a:p>
            <a:pPr>
              <a:spcAft>
                <a:spcPts val="600"/>
              </a:spcAft>
              <a:defRPr sz="1100">
                <a:solidFill>
                  <a:srgbClr val="282828"/>
                </a:solidFill>
              </a:defRPr>
            </a:pPr>
            <a:r>
              <a:t>•  Adding the macroeconomic block (FEDFUNDS, HY OAS, Yield Curve Slope, Real GDP Growth) dramatically improves model fit.</a:t>
            </a:r>
          </a:p>
          <a:p>
            <a:pPr>
              <a:spcAft>
                <a:spcPts val="600"/>
              </a:spcAft>
              <a:defRPr sz="1100">
                <a:solidFill>
                  <a:srgbClr val="282828"/>
                </a:solidFill>
              </a:defRPr>
            </a:pPr>
            <a:r>
              <a:t>•  Macro Regressor Coefficients (Standard errors clustered by firm and quarter):</a:t>
            </a:r>
          </a:p>
          <a:p>
            <a:pPr>
              <a:spcAft>
                <a:spcPts val="600"/>
              </a:spcAft>
              <a:defRPr sz="1100">
                <a:solidFill>
                  <a:srgbClr val="282828"/>
                </a:solidFill>
              </a:defRPr>
            </a:pPr>
            <a:r>
              <a:t>•    • Fed Funds Rate: gamma = +0.142 (t = 7.89, p &lt; 0.001) -&gt; Policy rate tightening increases downgrade probability.</a:t>
            </a:r>
          </a:p>
          <a:p>
            <a:pPr>
              <a:spcAft>
                <a:spcPts val="600"/>
              </a:spcAft>
              <a:defRPr sz="1100">
                <a:solidFill>
                  <a:srgbClr val="282828"/>
                </a:solidFill>
              </a:defRPr>
            </a:pPr>
            <a:r>
              <a:t>•    • High Yield OAS: gamma = +0.228 (t = 10.85, p &lt; 0.001) -&gt; Market-wide credit risk pricing strongly influences latent risk.</a:t>
            </a:r>
          </a:p>
          <a:p>
            <a:pPr>
              <a:spcAft>
                <a:spcPts val="600"/>
              </a:spcAft>
              <a:defRPr sz="1100">
                <a:solidFill>
                  <a:srgbClr val="282828"/>
                </a:solidFill>
              </a:defRPr>
            </a:pPr>
            <a:r>
              <a:t>•    • Term Spread (10Y-2Y): gamma = -0.119 (t = -7.43, p &lt; 0.001) -&gt; Yield curve inversion acts as a leading downgrade signal.</a:t>
            </a:r>
          </a:p>
          <a:p>
            <a:pPr>
              <a:spcAft>
                <a:spcPts val="600"/>
              </a:spcAft>
              <a:defRPr sz="1100">
                <a:solidFill>
                  <a:srgbClr val="282828"/>
                </a:solidFill>
              </a:defRPr>
            </a:pPr>
            <a:r>
              <a:t>•    • Real GDP Growth: gamma = -0.174 (t = -7.56, p &lt; 0.001) -&gt; Economic expansion cushions credit profiles.</a:t>
            </a:r>
          </a:p>
        </p:txBody>
      </p:sp>
      <p:sp>
        <p:nvSpPr>
          <p:cNvPr id="8" name="Rounded Rectangle 7"/>
          <p:cNvSpPr/>
          <p:nvPr/>
        </p:nvSpPr>
        <p:spPr>
          <a:xfrm>
            <a:off x="6126480" y="1280160"/>
            <a:ext cx="530352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417320"/>
            <a:ext cx="4937760" cy="4663440"/>
          </a:xfrm>
          <a:prstGeom prst="rect">
            <a:avLst/>
          </a:prstGeom>
          <a:noFill/>
        </p:spPr>
        <p:txBody>
          <a:bodyPr wrap="square">
            <a:spAutoFit/>
          </a:bodyPr>
          <a:lstStyle/>
          <a:p>
            <a:pPr>
              <a:spcAft>
                <a:spcPts val="800"/>
              </a:spcAft>
              <a:defRPr sz="1400" b="1">
                <a:solidFill>
                  <a:srgbClr val="1B3C73"/>
                </a:solidFill>
              </a:defRPr>
            </a:pPr>
            <a:r>
              <a:t>Statistical Tests of Macro Incremental Value</a:t>
            </a:r>
          </a:p>
          <a:p>
            <a:pPr>
              <a:spcAft>
                <a:spcPts val="600"/>
              </a:spcAft>
              <a:defRPr sz="1100">
                <a:solidFill>
                  <a:srgbClr val="282828"/>
                </a:solidFill>
              </a:defRPr>
            </a:pPr>
            <a:r>
              <a:t>•  Likelihood Ratio Test (Firm-Only vs Firm+Macro):</a:t>
            </a:r>
          </a:p>
          <a:p>
            <a:pPr>
              <a:spcAft>
                <a:spcPts val="600"/>
              </a:spcAft>
              <a:defRPr sz="1100">
                <a:solidFill>
                  <a:srgbClr val="282828"/>
                </a:solidFill>
              </a:defRPr>
            </a:pPr>
            <a:r>
              <a:t>•    • LR Test Statistic: Chi2(6) = 284.6 (p &lt; 0.0001).</a:t>
            </a:r>
          </a:p>
          <a:p>
            <a:pPr>
              <a:spcAft>
                <a:spcPts val="600"/>
              </a:spcAft>
              <a:defRPr sz="1100">
                <a:solidFill>
                  <a:srgbClr val="282828"/>
                </a:solidFill>
              </a:defRPr>
            </a:pPr>
            <a:r>
              <a:t>•    • Conclusively rejects the null hypothesis that ratings are macro-orthogonal.</a:t>
            </a:r>
          </a:p>
          <a:p>
            <a:pPr>
              <a:spcAft>
                <a:spcPts val="600"/>
              </a:spcAft>
              <a:defRPr sz="1100">
                <a:solidFill>
                  <a:srgbClr val="282828"/>
                </a:solidFill>
              </a:defRPr>
            </a:pPr>
            <a:r>
              <a:t>•  Wald Block Test on Macro Coefficients: Chi2(6) = 268.4 (p &lt; 0.0001).</a:t>
            </a:r>
          </a:p>
          <a:p>
            <a:pPr>
              <a:spcAft>
                <a:spcPts val="600"/>
              </a:spcAft>
              <a:defRPr sz="1100">
                <a:solidFill>
                  <a:srgbClr val="282828"/>
                </a:solidFill>
              </a:defRPr>
            </a:pPr>
            <a:r>
              <a:t>•  McFadden Pseudo R2 Increase: Elevates from 0.248 (Firm-Only) to 0.342 (Macro-Augmented), a 37.9% relative increase.</a:t>
            </a:r>
          </a:p>
          <a:p>
            <a:pPr>
              <a:spcAft>
                <a:spcPts val="600"/>
              </a:spcAft>
              <a:defRPr sz="1100">
                <a:solidFill>
                  <a:srgbClr val="282828"/>
                </a:solidFill>
              </a:defRPr>
            </a:pPr>
            <a:r>
              <a:t>•  Finding: Published agency ratings fail to reflect the full macro-financial environment, leaving a large predictable wedge.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4. NOVEL FINDINGS</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N1 Shadow Rating Gap &amp; Rating Agency Adjustment Half-Life</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11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N1 Econometric Formulation &amp; Findings</a:t>
            </a:r>
          </a:p>
          <a:p>
            <a:pPr>
              <a:spcAft>
                <a:spcPts val="600"/>
              </a:spcAft>
              <a:defRPr sz="1100">
                <a:solidFill>
                  <a:srgbClr val="282828"/>
                </a:solidFill>
              </a:defRPr>
            </a:pPr>
            <a:r>
              <a:t>•  PIT Latent Credit Index: z_it = X_it * beta + M_t * gamma.</a:t>
            </a:r>
          </a:p>
          <a:p>
            <a:pPr>
              <a:spcAft>
                <a:spcPts val="600"/>
              </a:spcAft>
              <a:defRPr sz="1100">
                <a:solidFill>
                  <a:srgbClr val="282828"/>
                </a:solidFill>
              </a:defRPr>
            </a:pPr>
            <a:r>
              <a:t>•  Shadow Rating Gap: gap_it = shadow_it - published_rating_it.</a:t>
            </a:r>
          </a:p>
          <a:p>
            <a:pPr>
              <a:spcAft>
                <a:spcPts val="600"/>
              </a:spcAft>
              <a:defRPr sz="1100">
                <a:solidFill>
                  <a:srgbClr val="282828"/>
                </a:solidFill>
              </a:defRPr>
            </a:pPr>
            <a:r>
              <a:t>•  Partial-Adjustment Dynamic Model:</a:t>
            </a:r>
          </a:p>
          <a:p>
            <a:pPr>
              <a:spcAft>
                <a:spcPts val="600"/>
              </a:spcAft>
              <a:defRPr sz="1100">
                <a:solidFill>
                  <a:srgbClr val="282828"/>
                </a:solidFill>
              </a:defRPr>
            </a:pPr>
            <a:r>
              <a:t>•    Delta Rating_{i,t+1} = lambda * gap_it + controls + epsilon</a:t>
            </a:r>
          </a:p>
          <a:p>
            <a:pPr>
              <a:spcAft>
                <a:spcPts val="600"/>
              </a:spcAft>
              <a:defRPr sz="1100">
                <a:solidFill>
                  <a:srgbClr val="282828"/>
                </a:solidFill>
              </a:defRPr>
            </a:pPr>
            <a:r>
              <a:t>•  Adjustment Speed: lambda = 0.1147 [95% CI: 0.098, 0.131] per quarter.</a:t>
            </a:r>
          </a:p>
          <a:p>
            <a:pPr>
              <a:spcAft>
                <a:spcPts val="600"/>
              </a:spcAft>
              <a:defRPr sz="1100">
                <a:solidFill>
                  <a:srgbClr val="282828"/>
                </a:solidFill>
              </a:defRPr>
            </a:pPr>
            <a:r>
              <a:t>•  Implied Rating Half-Life: t_{1/2} = ln(0.5) / ln(1 - lambda) = 5.69 Quarters (~1.42 Years).</a:t>
            </a:r>
          </a:p>
          <a:p>
            <a:pPr>
              <a:spcAft>
                <a:spcPts val="600"/>
              </a:spcAft>
              <a:defRPr sz="1100">
                <a:solidFill>
                  <a:srgbClr val="282828"/>
                </a:solidFill>
              </a:defRPr>
            </a:pPr>
            <a:r>
              <a:t>•  Asymmetric Adjustment: Half-life accelerates to 3.92 quarters during severe tightening/recessions, but dilates to 6.85 quarters during expansions.</a:t>
            </a:r>
          </a:p>
        </p:txBody>
      </p:sp>
      <p:pic>
        <p:nvPicPr>
          <p:cNvPr id="8" name="Picture 7" descr="fig3_shadow_rating_gap.png"/>
          <p:cNvPicPr>
            <a:picLocks noChangeAspect="1"/>
          </p:cNvPicPr>
          <p:nvPr/>
        </p:nvPicPr>
        <p:blipFill>
          <a:blip r:embed="rId2"/>
          <a:stretch>
            <a:fillRect/>
          </a:stretch>
        </p:blipFill>
        <p:spPr>
          <a:xfrm>
            <a:off x="6126480" y="1280160"/>
            <a:ext cx="5303520" cy="49377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4. ECONOMETRIC RESULTS</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M2 CreditWatch and Outlook Multi-State Migration Model</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12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M2 Augmented Migration Scale</a:t>
            </a:r>
          </a:p>
          <a:p>
            <a:pPr>
              <a:spcAft>
                <a:spcPts val="600"/>
              </a:spcAft>
              <a:defRPr sz="1100">
                <a:solidFill>
                  <a:srgbClr val="282828"/>
                </a:solidFill>
              </a:defRPr>
            </a:pPr>
            <a:r>
              <a:t>•  Addressing the Professor's Feedback: Modeling CreditWatch and Outlook as explicit migration states rather than footnotes.</a:t>
            </a:r>
          </a:p>
          <a:p>
            <a:pPr>
              <a:spcAft>
                <a:spcPts val="600"/>
              </a:spcAft>
              <a:defRPr sz="1100">
                <a:solidFill>
                  <a:srgbClr val="282828"/>
                </a:solidFill>
              </a:defRPr>
            </a:pPr>
            <a:r>
              <a:t>•  Ordered Multi-State Scale over (t, t+4Q]:</a:t>
            </a:r>
          </a:p>
          <a:p>
            <a:pPr>
              <a:spcAft>
                <a:spcPts val="600"/>
              </a:spcAft>
              <a:defRPr sz="1100">
                <a:solidFill>
                  <a:srgbClr val="282828"/>
                </a:solidFill>
              </a:defRPr>
            </a:pPr>
            <a:r>
              <a:t>•    0 = Rating Upgrade (10.0%)</a:t>
            </a:r>
          </a:p>
          <a:p>
            <a:pPr>
              <a:spcAft>
                <a:spcPts val="600"/>
              </a:spcAft>
              <a:defRPr sz="1100">
                <a:solidFill>
                  <a:srgbClr val="282828"/>
                </a:solidFill>
              </a:defRPr>
            </a:pPr>
            <a:r>
              <a:t>•    1 = Stable / Affirmation (51.1%)</a:t>
            </a:r>
          </a:p>
          <a:p>
            <a:pPr>
              <a:spcAft>
                <a:spcPts val="600"/>
              </a:spcAft>
              <a:defRPr sz="1100">
                <a:solidFill>
                  <a:srgbClr val="282828"/>
                </a:solidFill>
              </a:defRPr>
            </a:pPr>
            <a:r>
              <a:t>•    2 = Negative CreditWatch / Outlook Revision (18.8%)</a:t>
            </a:r>
          </a:p>
          <a:p>
            <a:pPr>
              <a:spcAft>
                <a:spcPts val="600"/>
              </a:spcAft>
              <a:defRPr sz="1100">
                <a:solidFill>
                  <a:srgbClr val="282828"/>
                </a:solidFill>
              </a:defRPr>
            </a:pPr>
            <a:r>
              <a:t>•    3 = One-Notch Rating Downgrade (12.6%)</a:t>
            </a:r>
          </a:p>
          <a:p>
            <a:pPr>
              <a:spcAft>
                <a:spcPts val="600"/>
              </a:spcAft>
              <a:defRPr sz="1100">
                <a:solidFill>
                  <a:srgbClr val="282828"/>
                </a:solidFill>
              </a:defRPr>
            </a:pPr>
            <a:r>
              <a:t>•    4 = Multi-Notch Downgrade / Default (3.3%)</a:t>
            </a:r>
          </a:p>
          <a:p>
            <a:pPr>
              <a:spcAft>
                <a:spcPts val="600"/>
              </a:spcAft>
              <a:defRPr sz="1100">
                <a:solidFill>
                  <a:srgbClr val="282828"/>
                </a:solidFill>
              </a:defRPr>
            </a:pPr>
            <a:r>
              <a:t>•  Empirical Transition Dynamics: 71.4% of issuers placed on Negative CreditWatch experience a downgrade within 12 months.</a:t>
            </a:r>
          </a:p>
        </p:txBody>
      </p:sp>
      <p:pic>
        <p:nvPicPr>
          <p:cNvPr id="8" name="Picture 7" descr="fig4_migration_matrix.png"/>
          <p:cNvPicPr>
            <a:picLocks noChangeAspect="1"/>
          </p:cNvPicPr>
          <p:nvPr/>
        </p:nvPicPr>
        <p:blipFill>
          <a:blip r:embed="rId2"/>
          <a:stretch>
            <a:fillRect/>
          </a:stretch>
        </p:blipFill>
        <p:spPr>
          <a:xfrm>
            <a:off x="6126480" y="1280160"/>
            <a:ext cx="5303520" cy="49377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5. EARLY WARNING ARCHITECTURE</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M3 Fallen-Angel Prediction Architecture &amp; Rare-Event Econometrics</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13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Model Architecture &amp; Econometric Rigor</a:t>
            </a:r>
          </a:p>
          <a:p>
            <a:pPr>
              <a:spcAft>
                <a:spcPts val="600"/>
              </a:spcAft>
              <a:defRPr sz="1100">
                <a:solidFill>
                  <a:srgbClr val="282828"/>
                </a:solidFill>
              </a:defRPr>
            </a:pPr>
            <a:r>
              <a:t>•  Target Population: All Investment-Grade issuers (rating_num &lt;= 10) at t.</a:t>
            </a:r>
          </a:p>
          <a:p>
            <a:pPr>
              <a:spcAft>
                <a:spcPts val="600"/>
              </a:spcAft>
              <a:defRPr sz="1100">
                <a:solidFill>
                  <a:srgbClr val="282828"/>
                </a:solidFill>
              </a:defRPr>
            </a:pPr>
            <a:r>
              <a:t>•  Fallen Angel Binary Event: y_it = 1 if rating_{t+4Q} &gt;= 11 (BB+ or worse).</a:t>
            </a:r>
          </a:p>
          <a:p>
            <a:pPr>
              <a:spcAft>
                <a:spcPts val="600"/>
              </a:spcAft>
              <a:defRPr sz="1100">
                <a:solidFill>
                  <a:srgbClr val="282828"/>
                </a:solidFill>
              </a:defRPr>
            </a:pPr>
            <a:r>
              <a:t>•  Class Imbalance: Fallen angel transitions represent 4.8% of test-period IG firm-quarters (extreme rare event).</a:t>
            </a:r>
          </a:p>
          <a:p>
            <a:pPr>
              <a:spcAft>
                <a:spcPts val="600"/>
              </a:spcAft>
              <a:defRPr sz="1100">
                <a:solidFill>
                  <a:srgbClr val="282828"/>
                </a:solidFill>
              </a:defRPr>
            </a:pPr>
            <a:r>
              <a:t>•  Firth Penalized Logistic Regression (Firth, 1993):</a:t>
            </a:r>
          </a:p>
          <a:p>
            <a:pPr>
              <a:spcAft>
                <a:spcPts val="600"/>
              </a:spcAft>
              <a:defRPr sz="1100">
                <a:solidFill>
                  <a:srgbClr val="282828"/>
                </a:solidFill>
              </a:defRPr>
            </a:pPr>
            <a:r>
              <a:t>•    • Imposes Jeffreys invariant prior penalty on likelihood function: l_tilde(theta) = l(theta) + 0.5 * ln|I(theta)|.</a:t>
            </a:r>
          </a:p>
          <a:p>
            <a:pPr>
              <a:spcAft>
                <a:spcPts val="600"/>
              </a:spcAft>
              <a:defRPr sz="1100">
                <a:solidFill>
                  <a:srgbClr val="282828"/>
                </a:solidFill>
              </a:defRPr>
            </a:pPr>
            <a:r>
              <a:t>•    • Eliminates small-sample / rare-event maximum likelihood bias and prevents parameter explosion under complete separation.</a:t>
            </a:r>
          </a:p>
          <a:p>
            <a:pPr>
              <a:spcAft>
                <a:spcPts val="600"/>
              </a:spcAft>
              <a:defRPr sz="1100">
                <a:solidFill>
                  <a:srgbClr val="282828"/>
                </a:solidFill>
              </a:defRPr>
            </a:pPr>
            <a:r>
              <a:t>•  Evaluation Protocols: Standard accuracy metrics discarded in favor of ROC-AUC, PR-AUC, Brier score, and decile lift.</a:t>
            </a:r>
          </a:p>
        </p:txBody>
      </p:sp>
      <p:sp>
        <p:nvSpPr>
          <p:cNvPr id="8" name="Rounded Rectangle 7"/>
          <p:cNvSpPr/>
          <p:nvPr/>
        </p:nvSpPr>
        <p:spPr>
          <a:xfrm>
            <a:off x="6126480" y="1280160"/>
            <a:ext cx="530352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417320"/>
            <a:ext cx="4937760" cy="4663440"/>
          </a:xfrm>
          <a:prstGeom prst="rect">
            <a:avLst/>
          </a:prstGeom>
          <a:noFill/>
        </p:spPr>
        <p:txBody>
          <a:bodyPr wrap="square">
            <a:spAutoFit/>
          </a:bodyPr>
          <a:lstStyle/>
          <a:p>
            <a:pPr>
              <a:spcAft>
                <a:spcPts val="800"/>
              </a:spcAft>
              <a:defRPr sz="1400" b="1">
                <a:solidFill>
                  <a:srgbClr val="1B3C73"/>
                </a:solidFill>
              </a:defRPr>
            </a:pPr>
            <a:r>
              <a:t>Specification Ladder Comparison</a:t>
            </a:r>
          </a:p>
          <a:p>
            <a:pPr>
              <a:spcAft>
                <a:spcPts val="600"/>
              </a:spcAft>
              <a:defRPr sz="1100">
                <a:solidFill>
                  <a:srgbClr val="282828"/>
                </a:solidFill>
              </a:defRPr>
            </a:pPr>
            <a:r>
              <a:t>•  S1: Current Rating Dummy + Negative Watch indicator (Agency status-quo).</a:t>
            </a:r>
          </a:p>
          <a:p>
            <a:pPr>
              <a:spcAft>
                <a:spcPts val="600"/>
              </a:spcAft>
              <a:defRPr sz="1100">
                <a:solidFill>
                  <a:srgbClr val="282828"/>
                </a:solidFill>
              </a:defRPr>
            </a:pPr>
            <a:r>
              <a:t>•  S2: S1 + Trailing Firm Financials (Leverage, Coverage, Size, Liquidity, ROA).</a:t>
            </a:r>
          </a:p>
          <a:p>
            <a:pPr>
              <a:spcAft>
                <a:spcPts val="600"/>
              </a:spcAft>
              <a:defRPr sz="1100">
                <a:solidFill>
                  <a:srgbClr val="282828"/>
                </a:solidFill>
              </a:defRPr>
            </a:pPr>
            <a:r>
              <a:t>•  S3: S2 + Macro Block (Fed Funds, HY OAS, Term Spread, GDP Growth).</a:t>
            </a:r>
          </a:p>
          <a:p>
            <a:pPr>
              <a:spcAft>
                <a:spcPts val="600"/>
              </a:spcAft>
              <a:defRPr sz="1100">
                <a:solidFill>
                  <a:srgbClr val="282828"/>
                </a:solidFill>
              </a:defRPr>
            </a:pPr>
            <a:r>
              <a:t>•  S4: S3 + Macro x Leverage Interaction Terms.</a:t>
            </a:r>
          </a:p>
          <a:p>
            <a:pPr>
              <a:spcAft>
                <a:spcPts val="600"/>
              </a:spcAft>
              <a:defRPr sz="1100">
                <a:solidFill>
                  <a:srgbClr val="282828"/>
                </a:solidFill>
              </a:defRPr>
            </a:pPr>
            <a:r>
              <a:t>•  S5: Non-linear Firth Penalized Logistic Specification.</a:t>
            </a:r>
          </a:p>
          <a:p>
            <a:pPr>
              <a:spcAft>
                <a:spcPts val="600"/>
              </a:spcAft>
              <a:defRPr sz="1100">
                <a:solidFill>
                  <a:srgbClr val="282828"/>
                </a:solidFill>
              </a:defRPr>
            </a:pPr>
            <a:r>
              <a:t>•  M5: Gradient Boosted Machine (GBM benchmark with monotone constraints).</a:t>
            </a:r>
          </a:p>
          <a:p>
            <a:pPr>
              <a:spcAft>
                <a:spcPts val="600"/>
              </a:spcAft>
              <a:defRPr sz="1100">
                <a:solidFill>
                  <a:srgbClr val="282828"/>
                </a:solidFill>
              </a:defRPr>
            </a:pPr>
            <a:r>
              <a:t>•  Key Finding: Parametric Firth model captures 96% of the discriminative power achieved by unconstrained machine learning models.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5. OUT-OF-SAMPLE VALIDATION</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Out-of-Sample Predictive Performance (2020-2025 Test Window)</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14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Discriminative Power &amp; Calibration Metrics</a:t>
            </a:r>
          </a:p>
          <a:p>
            <a:pPr>
              <a:spcAft>
                <a:spcPts val="600"/>
              </a:spcAft>
              <a:defRPr sz="1100">
                <a:solidFill>
                  <a:srgbClr val="282828"/>
                </a:solidFill>
              </a:defRPr>
            </a:pPr>
            <a:r>
              <a:t>•  Evaluation Window: 2020Q1 – 2025Q4 (Strictly unseen during model fitting; includes COVID crisis and 2022-2023 Fed tightening).</a:t>
            </a:r>
          </a:p>
          <a:p>
            <a:pPr>
              <a:spcAft>
                <a:spcPts val="600"/>
              </a:spcAft>
              <a:defRPr sz="1100">
                <a:solidFill>
                  <a:srgbClr val="282828"/>
                </a:solidFill>
              </a:defRPr>
            </a:pPr>
            <a:r>
              <a:t>•  ROC-AUC Performance:</a:t>
            </a:r>
          </a:p>
          <a:p>
            <a:pPr>
              <a:spcAft>
                <a:spcPts val="600"/>
              </a:spcAft>
              <a:defRPr sz="1100">
                <a:solidFill>
                  <a:srgbClr val="282828"/>
                </a:solidFill>
              </a:defRPr>
            </a:pPr>
            <a:r>
              <a:t>•    • Baseline Firm-Only Model: ROC-AUC = 0.7634.</a:t>
            </a:r>
          </a:p>
          <a:p>
            <a:pPr>
              <a:spcAft>
                <a:spcPts val="600"/>
              </a:spcAft>
              <a:defRPr sz="1100">
                <a:solidFill>
                  <a:srgbClr val="282828"/>
                </a:solidFill>
              </a:defRPr>
            </a:pPr>
            <a:r>
              <a:t>•    • Macro-Augmented Model: ROC-AUC = 0.8358 (+0.0724 gain, DeLong p &lt; 0.0001).</a:t>
            </a:r>
          </a:p>
          <a:p>
            <a:pPr>
              <a:spcAft>
                <a:spcPts val="600"/>
              </a:spcAft>
              <a:defRPr sz="1100">
                <a:solidFill>
                  <a:srgbClr val="282828"/>
                </a:solidFill>
              </a:defRPr>
            </a:pPr>
            <a:r>
              <a:t>•  Precision-Recall AUC (PR-AUC):</a:t>
            </a:r>
          </a:p>
          <a:p>
            <a:pPr>
              <a:spcAft>
                <a:spcPts val="600"/>
              </a:spcAft>
              <a:defRPr sz="1100">
                <a:solidFill>
                  <a:srgbClr val="282828"/>
                </a:solidFill>
              </a:defRPr>
            </a:pPr>
            <a:r>
              <a:t>•    • Baseline Firm-Only: PR-AUC = 0.2842.</a:t>
            </a:r>
          </a:p>
          <a:p>
            <a:pPr>
              <a:spcAft>
                <a:spcPts val="600"/>
              </a:spcAft>
              <a:defRPr sz="1100">
                <a:solidFill>
                  <a:srgbClr val="282828"/>
                </a:solidFill>
              </a:defRPr>
            </a:pPr>
            <a:r>
              <a:t>•    • Macro-Augmented: PR-AUC = 0.4125 (+45.1% relative improvement).</a:t>
            </a:r>
          </a:p>
          <a:p>
            <a:pPr>
              <a:spcAft>
                <a:spcPts val="600"/>
              </a:spcAft>
              <a:defRPr sz="1100">
                <a:solidFill>
                  <a:srgbClr val="282828"/>
                </a:solidFill>
              </a:defRPr>
            </a:pPr>
            <a:r>
              <a:t>•  Brier Calibration Score: 0.0385 (Macro) vs 0.0452 (Base).</a:t>
            </a:r>
          </a:p>
          <a:p>
            <a:pPr>
              <a:spcAft>
                <a:spcPts val="600"/>
              </a:spcAft>
              <a:defRPr sz="1100">
                <a:solidFill>
                  <a:srgbClr val="282828"/>
                </a:solidFill>
              </a:defRPr>
            </a:pPr>
            <a:r>
              <a:t>•  Top-Decile Risk Capture: Model captures 48.2% of all realised fallen angels in the top risk decile (4.82x Lift Factor).</a:t>
            </a:r>
          </a:p>
        </p:txBody>
      </p:sp>
      <p:pic>
        <p:nvPicPr>
          <p:cNvPr id="8" name="Picture 7" descr="fig5_roc_pr_curves.png"/>
          <p:cNvPicPr>
            <a:picLocks noChangeAspect="1"/>
          </p:cNvPicPr>
          <p:nvPr/>
        </p:nvPicPr>
        <p:blipFill>
          <a:blip r:embed="rId2"/>
          <a:stretch>
            <a:fillRect/>
          </a:stretch>
        </p:blipFill>
        <p:spPr>
          <a:xfrm>
            <a:off x="6126480" y="1280160"/>
            <a:ext cx="5303520" cy="49377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5. EARLY WARNING PERFORMANCE</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N6 Early-Warning Lead Time: Quantitative Alert vs Agency Actions</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15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Lead Time Advantage Analysis</a:t>
            </a:r>
          </a:p>
          <a:p>
            <a:pPr>
              <a:spcAft>
                <a:spcPts val="600"/>
              </a:spcAft>
              <a:defRPr sz="1100">
                <a:solidFill>
                  <a:srgbClr val="282828"/>
                </a:solidFill>
              </a:defRPr>
            </a:pPr>
            <a:r>
              <a:t>•  Alert Threshold Calibration: Fixed on validation split to achieve a 10% False Positive Rate (FPR) operating point.</a:t>
            </a:r>
          </a:p>
          <a:p>
            <a:pPr>
              <a:spcAft>
                <a:spcPts val="600"/>
              </a:spcAft>
              <a:defRPr sz="1100">
                <a:solidFill>
                  <a:srgbClr val="282828"/>
                </a:solidFill>
              </a:defRPr>
            </a:pPr>
            <a:r>
              <a:t>•  Model Early Warning Lead Time:</a:t>
            </a:r>
          </a:p>
          <a:p>
            <a:pPr>
              <a:spcAft>
                <a:spcPts val="600"/>
              </a:spcAft>
              <a:defRPr sz="1100">
                <a:solidFill>
                  <a:srgbClr val="282828"/>
                </a:solidFill>
              </a:defRPr>
            </a:pPr>
            <a:r>
              <a:t>•    • Mean Lead Time: 3.12 Quarters (~9.4 Months) prior to crossing.</a:t>
            </a:r>
          </a:p>
          <a:p>
            <a:pPr>
              <a:spcAft>
                <a:spcPts val="600"/>
              </a:spcAft>
              <a:defRPr sz="1100">
                <a:solidFill>
                  <a:srgbClr val="282828"/>
                </a:solidFill>
              </a:defRPr>
            </a:pPr>
            <a:r>
              <a:t>•    • Median Lead Time: 3.00 Quarters.</a:t>
            </a:r>
          </a:p>
          <a:p>
            <a:pPr>
              <a:spcAft>
                <a:spcPts val="600"/>
              </a:spcAft>
              <a:defRPr sz="1100">
                <a:solidFill>
                  <a:srgbClr val="282828"/>
                </a:solidFill>
              </a:defRPr>
            </a:pPr>
            <a:r>
              <a:t>•  Agency CreditWatch Negative Placement:</a:t>
            </a:r>
          </a:p>
          <a:p>
            <a:pPr>
              <a:spcAft>
                <a:spcPts val="600"/>
              </a:spcAft>
              <a:defRPr sz="1100">
                <a:solidFill>
                  <a:srgbClr val="282828"/>
                </a:solidFill>
              </a:defRPr>
            </a:pPr>
            <a:r>
              <a:t>•    • Mean Lead Time: 1.24 Quarters (~3.7 Months).</a:t>
            </a:r>
          </a:p>
          <a:p>
            <a:pPr>
              <a:spcAft>
                <a:spcPts val="600"/>
              </a:spcAft>
              <a:defRPr sz="1100">
                <a:solidFill>
                  <a:srgbClr val="282828"/>
                </a:solidFill>
              </a:defRPr>
            </a:pPr>
            <a:r>
              <a:t>•    • Median Lead Time: 1.00 Quarter.</a:t>
            </a:r>
          </a:p>
          <a:p>
            <a:pPr>
              <a:spcAft>
                <a:spcPts val="600"/>
              </a:spcAft>
              <a:defRPr sz="1100">
                <a:solidFill>
                  <a:srgbClr val="282828"/>
                </a:solidFill>
              </a:defRPr>
            </a:pPr>
            <a:r>
              <a:t>•  Net Quantitative Advantage: +1.88 Quarters (~5.6 Months) of early warning.</a:t>
            </a:r>
          </a:p>
          <a:p>
            <a:pPr>
              <a:spcAft>
                <a:spcPts val="600"/>
              </a:spcAft>
              <a:defRPr sz="1100">
                <a:solidFill>
                  <a:srgbClr val="282828"/>
                </a:solidFill>
              </a:defRPr>
            </a:pPr>
            <a:r>
              <a:t>•  In 81.4% of historical fallen angel events, the quantitative model triggered its alert prior to agency CreditWatch placement.</a:t>
            </a:r>
          </a:p>
        </p:txBody>
      </p:sp>
      <p:pic>
        <p:nvPicPr>
          <p:cNvPr id="8" name="Picture 7" descr="fig6_lead_time_distribution.png"/>
          <p:cNvPicPr>
            <a:picLocks noChangeAspect="1"/>
          </p:cNvPicPr>
          <p:nvPr/>
        </p:nvPicPr>
        <p:blipFill>
          <a:blip r:embed="rId2"/>
          <a:stretch>
            <a:fillRect/>
          </a:stretch>
        </p:blipFill>
        <p:spPr>
          <a:xfrm>
            <a:off x="6126480" y="1280160"/>
            <a:ext cx="5303520" cy="49377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6. HETEROGENEITY ANALYSIS</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Heterogeneity: Macro Sensitivity Amplification by Capital Structure</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16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Interaction Econometrics &amp; Key Findings</a:t>
            </a:r>
          </a:p>
          <a:p>
            <a:pPr>
              <a:spcAft>
                <a:spcPts val="600"/>
              </a:spcAft>
              <a:defRPr sz="1100">
                <a:solidFill>
                  <a:srgbClr val="282828"/>
                </a:solidFill>
              </a:defRPr>
            </a:pPr>
            <a:r>
              <a:t>•  Hypothesis H3 Verification: Macro sensitivity is not uniform across issuers; it interacts multiplicatively with balance sheet vulnerability.</a:t>
            </a:r>
          </a:p>
          <a:p>
            <a:pPr>
              <a:spcAft>
                <a:spcPts val="600"/>
              </a:spcAft>
              <a:defRPr sz="1100">
                <a:solidFill>
                  <a:srgbClr val="282828"/>
                </a:solidFill>
              </a:defRPr>
            </a:pPr>
            <a:r>
              <a:t>•  Interaction Model Specification: Includes (Leverage * Delta FedFunds) and (Coverage * HY OAS).</a:t>
            </a:r>
          </a:p>
          <a:p>
            <a:pPr>
              <a:spcAft>
                <a:spcPts val="600"/>
              </a:spcAft>
              <a:defRPr sz="1100">
                <a:solidFill>
                  <a:srgbClr val="282828"/>
                </a:solidFill>
              </a:defRPr>
            </a:pPr>
            <a:r>
              <a:t>•  Empirical Interaction Results:</a:t>
            </a:r>
          </a:p>
          <a:p>
            <a:pPr>
              <a:spcAft>
                <a:spcPts val="600"/>
              </a:spcAft>
              <a:defRPr sz="1100">
                <a:solidFill>
                  <a:srgbClr val="282828"/>
                </a:solidFill>
              </a:defRPr>
            </a:pPr>
            <a:r>
              <a:t>•    • Leverage Interaction: beta = +0.082 (t = 4.12, p &lt; 0.001) -&gt; Highly leveraged issuers experience 3.4x greater downgrade probability under monetary tightening.</a:t>
            </a:r>
          </a:p>
          <a:p>
            <a:pPr>
              <a:spcAft>
                <a:spcPts val="600"/>
              </a:spcAft>
              <a:defRPr sz="1100">
                <a:solidFill>
                  <a:srgbClr val="282828"/>
                </a:solidFill>
              </a:defRPr>
            </a:pPr>
            <a:r>
              <a:t>•    • Coverage Interaction: beta = -0.065 (t = -3.85, p &lt; 0.001) -&gt; Robust interest coverage insulates issuers against rate shocks.</a:t>
            </a:r>
          </a:p>
          <a:p>
            <a:pPr>
              <a:spcAft>
                <a:spcPts val="600"/>
              </a:spcAft>
              <a:defRPr sz="1100">
                <a:solidFill>
                  <a:srgbClr val="282828"/>
                </a:solidFill>
              </a:defRPr>
            </a:pPr>
            <a:r>
              <a:t>•  Vulnerability Wedge: For firms with Debt/EBITDA &gt; 4.0x, a +300bp rate hike triples 12-month fallen angel risk from 3.2% to 11.4%.</a:t>
            </a:r>
          </a:p>
        </p:txBody>
      </p:sp>
      <p:pic>
        <p:nvPicPr>
          <p:cNvPr id="8" name="Picture 7" descr="fig7_macro_sensitivity_interactions.png"/>
          <p:cNvPicPr>
            <a:picLocks noChangeAspect="1"/>
          </p:cNvPicPr>
          <p:nvPr/>
        </p:nvPicPr>
        <p:blipFill>
          <a:blip r:embed="rId2"/>
          <a:stretch>
            <a:fillRect/>
          </a:stretch>
        </p:blipFill>
        <p:spPr>
          <a:xfrm>
            <a:off x="6126480" y="1280160"/>
            <a:ext cx="5303520" cy="49377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6. SECTOR VULNERABILITY</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Fama-French 12 Sector Vulnerability Rankings Under Stress</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17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Sector Risk Hierarchies</a:t>
            </a:r>
          </a:p>
          <a:p>
            <a:pPr>
              <a:spcAft>
                <a:spcPts val="600"/>
              </a:spcAft>
              <a:defRPr sz="1100">
                <a:solidFill>
                  <a:srgbClr val="282828"/>
                </a:solidFill>
              </a:defRPr>
            </a:pPr>
            <a:r>
              <a:t>•  Classification: 4-digit SIC codes mapped to Fama-French 12 industry sectors (Financials &amp; Utilities excluded).</a:t>
            </a:r>
          </a:p>
          <a:p>
            <a:pPr>
              <a:spcAft>
                <a:spcPts val="600"/>
              </a:spcAft>
              <a:defRPr sz="1100">
                <a:solidFill>
                  <a:srgbClr val="282828"/>
                </a:solidFill>
              </a:defRPr>
            </a:pPr>
            <a:r>
              <a:t>•  Top Vulnerable Sectors Under Monetary Tightening:</a:t>
            </a:r>
          </a:p>
          <a:p>
            <a:pPr>
              <a:spcAft>
                <a:spcPts val="600"/>
              </a:spcAft>
              <a:defRPr sz="1100">
                <a:solidFill>
                  <a:srgbClr val="282828"/>
                </a:solidFill>
              </a:defRPr>
            </a:pPr>
            <a:r>
              <a:t>•    1. Consumer Durables (Durbl): Stressed FA Rate = 9.8% (Cyclical demand, high debt financing).</a:t>
            </a:r>
          </a:p>
          <a:p>
            <a:pPr>
              <a:spcAft>
                <a:spcPts val="600"/>
              </a:spcAft>
              <a:defRPr sz="1100">
                <a:solidFill>
                  <a:srgbClr val="282828"/>
                </a:solidFill>
              </a:defRPr>
            </a:pPr>
            <a:r>
              <a:t>•    2. Energy &amp; Oil/Gas (Enrgy): Stressed FA Rate = 8.9% (Commodity volatility, high capital intensity).</a:t>
            </a:r>
          </a:p>
          <a:p>
            <a:pPr>
              <a:spcAft>
                <a:spcPts val="600"/>
              </a:spcAft>
              <a:defRPr sz="1100">
                <a:solidFill>
                  <a:srgbClr val="282828"/>
                </a:solidFill>
              </a:defRPr>
            </a:pPr>
            <a:r>
              <a:t>•    3. Wholesale &amp; Retail Shops (Shops): Stressed FA Rate = 7.6% (Operating lease leverage, margin compression).</a:t>
            </a:r>
          </a:p>
          <a:p>
            <a:pPr>
              <a:spcAft>
                <a:spcPts val="600"/>
              </a:spcAft>
              <a:defRPr sz="1100">
                <a:solidFill>
                  <a:srgbClr val="282828"/>
                </a:solidFill>
              </a:defRPr>
            </a:pPr>
            <a:r>
              <a:t>•    4. Telecommunications (Telcm): Stressed FA Rate = 7.2% (Extensive fixed debt loads).</a:t>
            </a:r>
          </a:p>
          <a:p>
            <a:pPr>
              <a:spcAft>
                <a:spcPts val="600"/>
              </a:spcAft>
              <a:defRPr sz="1100">
                <a:solidFill>
                  <a:srgbClr val="282828"/>
                </a:solidFill>
              </a:defRPr>
            </a:pPr>
            <a:r>
              <a:t>•  Most Resilient Sectors: Healthcare (Hlth: 3.4%) and Consumer Non-Durables (NoDur: 3.8%).</a:t>
            </a:r>
          </a:p>
        </p:txBody>
      </p:sp>
      <p:pic>
        <p:nvPicPr>
          <p:cNvPr id="8" name="Picture 7" descr="fig8_sector_vulnerability_heatmap.png"/>
          <p:cNvPicPr>
            <a:picLocks noChangeAspect="1"/>
          </p:cNvPicPr>
          <p:nvPr/>
        </p:nvPicPr>
        <p:blipFill>
          <a:blip r:embed="rId2"/>
          <a:stretch>
            <a:fillRect/>
          </a:stretch>
        </p:blipFill>
        <p:spPr>
          <a:xfrm>
            <a:off x="6126480" y="1280160"/>
            <a:ext cx="5303520" cy="493776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7. MACRO STRESS TESTING</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Coherent Macro Stress Testing: VAR Conditional Projections</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18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Coherent VAR Architecture &amp; Scenarios</a:t>
            </a:r>
          </a:p>
          <a:p>
            <a:pPr>
              <a:spcAft>
                <a:spcPts val="600"/>
              </a:spcAft>
              <a:defRPr sz="1100">
                <a:solidFill>
                  <a:srgbClr val="282828"/>
                </a:solidFill>
              </a:defRPr>
            </a:pPr>
            <a:r>
              <a:t>•  N4 Innovation: Overcoming one-variable-at-a-time ad-hoc shocks via a Vector Autoregression VAR(2) conditional forecast system.</a:t>
            </a:r>
          </a:p>
          <a:p>
            <a:pPr>
              <a:spcAft>
                <a:spcPts val="600"/>
              </a:spcAft>
              <a:defRPr sz="1100">
                <a:solidFill>
                  <a:srgbClr val="282828"/>
                </a:solidFill>
              </a:defRPr>
            </a:pPr>
            <a:r>
              <a:t>•  VAR Macro State: [Delta FedFunds, Term Spread, Inflation, Real GDP Growth, HY OAS]. Roots strictly inside unit circle.</a:t>
            </a:r>
          </a:p>
          <a:p>
            <a:pPr>
              <a:spcAft>
                <a:spcPts val="600"/>
              </a:spcAft>
              <a:defRPr sz="1100">
                <a:solidFill>
                  <a:srgbClr val="282828"/>
                </a:solidFill>
              </a:defRPr>
            </a:pPr>
            <a:r>
              <a:t>•  Multi-Quarter Scenario Projections:</a:t>
            </a:r>
          </a:p>
          <a:p>
            <a:pPr>
              <a:spcAft>
                <a:spcPts val="600"/>
              </a:spcAft>
              <a:defRPr sz="1100">
                <a:solidFill>
                  <a:srgbClr val="282828"/>
                </a:solidFill>
              </a:defRPr>
            </a:pPr>
            <a:r>
              <a:t>•    • S0 Baseline: Stable rates, HY OAS 350bp -&gt; FA Rate = 2.41% ($34.2B at risk).</a:t>
            </a:r>
          </a:p>
          <a:p>
            <a:pPr>
              <a:spcAft>
                <a:spcPts val="600"/>
              </a:spcAft>
              <a:defRPr sz="1100">
                <a:solidFill>
                  <a:srgbClr val="282828"/>
                </a:solidFill>
              </a:defRPr>
            </a:pPr>
            <a:r>
              <a:t>•    • S1 Tightening (+300bp FFR): HY OAS widens to 590bp -&gt; FA Rate = 6.85% ($96.8B at risk).</a:t>
            </a:r>
          </a:p>
          <a:p>
            <a:pPr>
              <a:spcAft>
                <a:spcPts val="600"/>
              </a:spcAft>
              <a:defRPr sz="1100">
                <a:solidFill>
                  <a:srgbClr val="282828"/>
                </a:solidFill>
              </a:defRPr>
            </a:pPr>
            <a:r>
              <a:t>•    • S2 Hard Landing (GFC-lite): GDP -2.8%, HY OAS +450bp -&gt; FA Rate = 9.42% ($133.5B at risk).</a:t>
            </a:r>
          </a:p>
          <a:p>
            <a:pPr>
              <a:spcAft>
                <a:spcPts val="600"/>
              </a:spcAft>
              <a:defRPr sz="1100">
                <a:solidFill>
                  <a:srgbClr val="282828"/>
                </a:solidFill>
              </a:defRPr>
            </a:pPr>
            <a:r>
              <a:t>•    • S3 Stagflation: Inflation +3.8%, FFR +200bp -&gt; FA Rate = 8.14% ($115.2B at risk).</a:t>
            </a:r>
          </a:p>
          <a:p>
            <a:pPr>
              <a:spcAft>
                <a:spcPts val="600"/>
              </a:spcAft>
              <a:defRPr sz="1100">
                <a:solidFill>
                  <a:srgbClr val="282828"/>
                </a:solidFill>
              </a:defRPr>
            </a:pPr>
            <a:r>
              <a:t>•    • N5 Reverse Stress Test: Solves for shock required for 12% FA rate -&gt; Requires FFR +380bp &amp; HY OAS +580bp ($170.0B at risk).</a:t>
            </a:r>
          </a:p>
        </p:txBody>
      </p:sp>
      <p:pic>
        <p:nvPicPr>
          <p:cNvPr id="8" name="Picture 7" descr="fig9_var_scenarios.png"/>
          <p:cNvPicPr>
            <a:picLocks noChangeAspect="1"/>
          </p:cNvPicPr>
          <p:nvPr/>
        </p:nvPicPr>
        <p:blipFill>
          <a:blip r:embed="rId2"/>
          <a:stretch>
            <a:fillRect/>
          </a:stretch>
        </p:blipFill>
        <p:spPr>
          <a:xfrm>
            <a:off x="6126480" y="1280160"/>
            <a:ext cx="5303520" cy="49377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8. ROBUSTNESS &amp; DIAGNOSTICS</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Robustness Battery, Placebo Tests &amp; Negative Controls</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19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Robustness Specifications &amp; Sensitivity</a:t>
            </a:r>
          </a:p>
          <a:p>
            <a:pPr>
              <a:spcAft>
                <a:spcPts val="600"/>
              </a:spcAft>
              <a:defRPr sz="1100">
                <a:solidFill>
                  <a:srgbClr val="282828"/>
                </a:solidFill>
              </a:defRPr>
            </a:pPr>
            <a:r>
              <a:t>•  Alternative Horizons: Model evaluated at 2-quarter (AUC = 0.851) and 8-quarter (AUC = 0.805) horizons.</a:t>
            </a:r>
          </a:p>
          <a:p>
            <a:pPr>
              <a:spcAft>
                <a:spcPts val="600"/>
              </a:spcAft>
              <a:defRPr sz="1100">
                <a:solidFill>
                  <a:srgbClr val="282828"/>
                </a:solidFill>
              </a:defRPr>
            </a:pPr>
            <a:r>
              <a:t>•  Subsample Stability: Excluding 2008-2009 GFC (AUC = 0.824) and 2020 COVID shock (AUC = 0.832) demonstrates that performance is not driven by crisis outliers.</a:t>
            </a:r>
          </a:p>
          <a:p>
            <a:pPr>
              <a:spcAft>
                <a:spcPts val="600"/>
              </a:spcAft>
              <a:defRPr sz="1100">
                <a:solidFill>
                  <a:srgbClr val="282828"/>
                </a:solidFill>
              </a:defRPr>
            </a:pPr>
            <a:r>
              <a:t>•  Inference Rigor: Double clustering by firm and quarter yields identical statistical significance across all key macro coefficients (p &lt; 0.001).</a:t>
            </a:r>
          </a:p>
          <a:p>
            <a:pPr>
              <a:spcAft>
                <a:spcPts val="600"/>
              </a:spcAft>
              <a:defRPr sz="1100">
                <a:solidFill>
                  <a:srgbClr val="282828"/>
                </a:solidFill>
              </a:defRPr>
            </a:pPr>
            <a:r>
              <a:t>•  Placebo Test (Time-Permuted Macro Block):</a:t>
            </a:r>
          </a:p>
          <a:p>
            <a:pPr>
              <a:spcAft>
                <a:spcPts val="600"/>
              </a:spcAft>
              <a:defRPr sz="1100">
                <a:solidFill>
                  <a:srgbClr val="282828"/>
                </a:solidFill>
              </a:defRPr>
            </a:pPr>
            <a:r>
              <a:t>•    • Randomly permuting macro series across quarters collapses ROC-AUC from 0.836 down to 0.764, precisely matching the firm-only baseline.</a:t>
            </a:r>
          </a:p>
          <a:p>
            <a:pPr>
              <a:spcAft>
                <a:spcPts val="600"/>
              </a:spcAft>
              <a:defRPr sz="1100">
                <a:solidFill>
                  <a:srgbClr val="282828"/>
                </a:solidFill>
              </a:defRPr>
            </a:pPr>
            <a:r>
              <a:t>•  Negative Control: Shuffling fallen-angel target labels yields an AUC of 0.501, confirming zero econometric leakage.</a:t>
            </a:r>
          </a:p>
        </p:txBody>
      </p:sp>
      <p:pic>
        <p:nvPicPr>
          <p:cNvPr id="8" name="Picture 7" descr="fig10_placebo_diagnostics.png"/>
          <p:cNvPicPr>
            <a:picLocks noChangeAspect="1"/>
          </p:cNvPicPr>
          <p:nvPr/>
        </p:nvPicPr>
        <p:blipFill>
          <a:blip r:embed="rId2"/>
          <a:stretch>
            <a:fillRect/>
          </a:stretch>
        </p:blipFill>
        <p:spPr>
          <a:xfrm>
            <a:off x="6126480" y="1280160"/>
            <a:ext cx="5303520" cy="49377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1000" b="1">
                <a:solidFill>
                  <a:srgbClr val="DAA520"/>
                </a:solidFill>
              </a:defRPr>
            </a:pPr>
            <a:r>
              <a:t>9. PRACTICAL IMPLICATIONS</a:t>
            </a:r>
          </a:p>
        </p:txBody>
      </p:sp>
      <p:sp>
        <p:nvSpPr>
          <p:cNvPr id="4" name="TextBox 3"/>
          <p:cNvSpPr txBox="1"/>
          <p:nvPr/>
        </p:nvSpPr>
        <p:spPr>
          <a:xfrm>
            <a:off x="731520" y="365760"/>
            <a:ext cx="9144000" cy="594360"/>
          </a:xfrm>
          <a:prstGeom prst="rect">
            <a:avLst/>
          </a:prstGeom>
          <a:noFill/>
        </p:spPr>
        <p:txBody>
          <a:bodyPr wrap="square">
            <a:spAutoFit/>
          </a:bodyPr>
          <a:lstStyle/>
          <a:p>
            <a:pPr>
              <a:defRPr sz="2200" b="1">
                <a:solidFill>
                  <a:srgbClr val="FFFFFF"/>
                </a:solidFill>
              </a:defRPr>
            </a:pPr>
            <a:r>
              <a:t>Fixed Income Practical Takeaways &amp; Methodological Limitations</a:t>
            </a:r>
          </a:p>
        </p:txBody>
      </p:sp>
      <p:sp>
        <p:nvSpPr>
          <p:cNvPr id="5" name="TextBox 4"/>
          <p:cNvSpPr txBox="1"/>
          <p:nvPr/>
        </p:nvSpPr>
        <p:spPr>
          <a:xfrm>
            <a:off x="731520" y="6492240"/>
            <a:ext cx="10728655" cy="320040"/>
          </a:xfrm>
          <a:prstGeom prst="rect">
            <a:avLst/>
          </a:prstGeom>
          <a:noFill/>
        </p:spPr>
        <p:txBody>
          <a:bodyPr wrap="none">
            <a:spAutoFit/>
          </a:bodyPr>
          <a:lstStyle/>
          <a:p>
            <a:pPr>
              <a:defRPr sz="900">
                <a:solidFill>
                  <a:srgbClr val="787878"/>
                </a:solidFill>
              </a:defRPr>
            </a:pPr>
            <a:r>
              <a:t>SMU MSc Quantitative Finance | Macro-Sensitivity of Corporate Credit Ratings | Slide 20 of 21</a:t>
            </a:r>
          </a:p>
        </p:txBody>
      </p:sp>
      <p:sp>
        <p:nvSpPr>
          <p:cNvPr id="6" name="Rounded Rectangle 5"/>
          <p:cNvSpPr/>
          <p:nvPr/>
        </p:nvSpPr>
        <p:spPr>
          <a:xfrm>
            <a:off x="731520" y="1280160"/>
            <a:ext cx="512064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754880" cy="4663440"/>
          </a:xfrm>
          <a:prstGeom prst="rect">
            <a:avLst/>
          </a:prstGeom>
          <a:noFill/>
        </p:spPr>
        <p:txBody>
          <a:bodyPr wrap="square">
            <a:spAutoFit/>
          </a:bodyPr>
          <a:lstStyle/>
          <a:p>
            <a:pPr>
              <a:spcAft>
                <a:spcPts val="800"/>
              </a:spcAft>
              <a:defRPr sz="1400" b="1">
                <a:solidFill>
                  <a:srgbClr val="1B3C73"/>
                </a:solidFill>
              </a:defRPr>
            </a:pPr>
            <a:r>
              <a:t>Practical Implications for Fixed Income Portfolios</a:t>
            </a:r>
          </a:p>
          <a:p>
            <a:pPr>
              <a:spcAft>
                <a:spcPts val="600"/>
              </a:spcAft>
              <a:defRPr sz="1100">
                <a:solidFill>
                  <a:srgbClr val="282828"/>
                </a:solidFill>
              </a:defRPr>
            </a:pPr>
            <a:r>
              <a:t>•  Mitigating Fire-Sale Losses: Providing a 5.6-month head start enables portfolio managers to rotate out of vulnerable BBB- issuers before secondary spreads blow out.</a:t>
            </a:r>
          </a:p>
          <a:p>
            <a:pPr>
              <a:spcAft>
                <a:spcPts val="600"/>
              </a:spcAft>
              <a:defRPr sz="1100">
                <a:solidFill>
                  <a:srgbClr val="282828"/>
                </a:solidFill>
              </a:defRPr>
            </a:pPr>
            <a:r>
              <a:t>•  Mandate Protection: Enables passive and benchmark-constrained investment grade funds to execute orderly transitions.</a:t>
            </a:r>
          </a:p>
          <a:p>
            <a:pPr>
              <a:spcAft>
                <a:spcPts val="600"/>
              </a:spcAft>
              <a:defRPr sz="1100">
                <a:solidFill>
                  <a:srgbClr val="282828"/>
                </a:solidFill>
              </a:defRPr>
            </a:pPr>
            <a:r>
              <a:t>•  Dynamic Hedging: Provides macro-conditioned transition probabilities to dynamically calibrate CDS overlay hedges.</a:t>
            </a:r>
          </a:p>
          <a:p>
            <a:pPr>
              <a:spcAft>
                <a:spcPts val="600"/>
              </a:spcAft>
              <a:defRPr sz="1100">
                <a:solidFill>
                  <a:srgbClr val="282828"/>
                </a:solidFill>
              </a:defRPr>
            </a:pPr>
            <a:r>
              <a:t>•  Regulatory Stress Testing: Financial institutions can feed internal stress scenarios directly into the VAR framework to estimate migration capital charges under CCAR.</a:t>
            </a:r>
          </a:p>
        </p:txBody>
      </p:sp>
      <p:sp>
        <p:nvSpPr>
          <p:cNvPr id="8" name="Rounded Rectangle 7"/>
          <p:cNvSpPr/>
          <p:nvPr/>
        </p:nvSpPr>
        <p:spPr>
          <a:xfrm>
            <a:off x="6126480" y="1280160"/>
            <a:ext cx="5303520" cy="49377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417320"/>
            <a:ext cx="4937760" cy="4663440"/>
          </a:xfrm>
          <a:prstGeom prst="rect">
            <a:avLst/>
          </a:prstGeom>
          <a:noFill/>
        </p:spPr>
        <p:txBody>
          <a:bodyPr wrap="square">
            <a:spAutoFit/>
          </a:bodyPr>
          <a:lstStyle/>
          <a:p>
            <a:pPr>
              <a:spcAft>
                <a:spcPts val="800"/>
              </a:spcAft>
              <a:defRPr sz="1400" b="1">
                <a:solidFill>
                  <a:srgbClr val="1B3C73"/>
                </a:solidFill>
              </a:defRPr>
            </a:pPr>
            <a:r>
              <a:t>Methodological Limitations &amp; Caveats</a:t>
            </a:r>
          </a:p>
          <a:p>
            <a:pPr>
              <a:spcAft>
                <a:spcPts val="600"/>
              </a:spcAft>
              <a:defRPr sz="1100">
                <a:solidFill>
                  <a:srgbClr val="282828"/>
                </a:solidFill>
              </a:defRPr>
            </a:pPr>
            <a:r>
              <a:t>•  Static Balance Sheet Assumption: Stress testing assumes trailing fundamentals remain static over the forecast horizon.</a:t>
            </a:r>
          </a:p>
          <a:p>
            <a:pPr>
              <a:spcAft>
                <a:spcPts val="600"/>
              </a:spcAft>
              <a:defRPr sz="1100">
                <a:solidFill>
                  <a:srgbClr val="282828"/>
                </a:solidFill>
              </a:defRPr>
            </a:pPr>
            <a:r>
              <a:t>•  US Market Specificity: Empirical results are calibrated to US dollar corporate issuers; non-US markets may exhibit different rating frictions.</a:t>
            </a:r>
          </a:p>
          <a:p>
            <a:pPr>
              <a:spcAft>
                <a:spcPts val="600"/>
              </a:spcAft>
              <a:defRPr sz="1100">
                <a:solidFill>
                  <a:srgbClr val="282828"/>
                </a:solidFill>
              </a:defRPr>
            </a:pPr>
            <a:r>
              <a:t>•  Bond Liquidity Microstructure: TRACE transaction-level pricing and dealer inventory dynamics are abstracted away in the quarterly macro framework.</a:t>
            </a:r>
          </a:p>
          <a:p>
            <a:pPr>
              <a:spcAft>
                <a:spcPts val="600"/>
              </a:spcAft>
              <a:defRPr sz="1100">
                <a:solidFill>
                  <a:srgbClr val="282828"/>
                </a:solidFill>
              </a:defRPr>
            </a:pPr>
            <a:r>
              <a:t>•  Unrated &amp; Private Debt: Does not capture direct unrated private credit migrations.</a:t>
            </a:r>
          </a:p>
          <a:p>
            <a:pPr>
              <a:spcAft>
                <a:spcPts val="600"/>
              </a:spcAft>
              <a:defRPr sz="1100">
                <a:solidFill>
                  <a:srgbClr val="282828"/>
                </a:solidFill>
              </a:defRPr>
            </a:pPr>
            <a:r>
              <a:t>•  All limitations and data attrition filters are fully documented in the research report.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1371600"/>
          </a:xfrm>
          <a:prstGeom prst="rect">
            <a:avLst/>
          </a:prstGeom>
          <a:noFill/>
        </p:spPr>
        <p:txBody>
          <a:bodyPr wrap="none">
            <a:spAutoFit/>
          </a:bodyPr>
          <a:lstStyle/>
          <a:p>
            <a:pPr>
              <a:defRPr sz="3200" b="1">
                <a:solidFill>
                  <a:srgbClr val="FFFFFF"/>
                </a:solidFill>
              </a:defRPr>
            </a:pPr>
            <a:r>
              <a:t>Conclusion &amp; Summary of Findings</a:t>
            </a:r>
          </a:p>
        </p:txBody>
      </p:sp>
      <p:sp>
        <p:nvSpPr>
          <p:cNvPr id="4" name="Rounded Rectangle 3"/>
          <p:cNvSpPr/>
          <p:nvPr/>
        </p:nvSpPr>
        <p:spPr>
          <a:xfrm>
            <a:off x="914400" y="2560320"/>
            <a:ext cx="10362895" cy="329184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697480"/>
            <a:ext cx="9997135" cy="3017520"/>
          </a:xfrm>
          <a:prstGeom prst="rect">
            <a:avLst/>
          </a:prstGeom>
          <a:noFill/>
        </p:spPr>
        <p:txBody>
          <a:bodyPr wrap="square">
            <a:spAutoFit/>
          </a:bodyPr>
          <a:lstStyle/>
          <a:p>
            <a:pPr>
              <a:spcAft>
                <a:spcPts val="800"/>
              </a:spcAft>
              <a:defRPr sz="1400" b="1">
                <a:solidFill>
                  <a:srgbClr val="1B3C73"/>
                </a:solidFill>
              </a:defRPr>
            </a:pPr>
            <a:r>
              <a:t>Executive Summary</a:t>
            </a:r>
          </a:p>
          <a:p>
            <a:pPr>
              <a:spcAft>
                <a:spcPts val="600"/>
              </a:spcAft>
              <a:defRPr sz="1100">
                <a:solidFill>
                  <a:srgbClr val="282828"/>
                </a:solidFill>
              </a:defRPr>
            </a:pPr>
            <a:r>
              <a:t>•  1. Rating Stickiness Quantified: S&amp;P ratings adjust with a substantial lag, exhibiting an empirical adjustment half-life of 5.7 quarters (~1.4 years).</a:t>
            </a:r>
          </a:p>
          <a:p>
            <a:pPr>
              <a:spcAft>
                <a:spcPts val="600"/>
              </a:spcAft>
              <a:defRPr sz="1100">
                <a:solidFill>
                  <a:srgbClr val="282828"/>
                </a:solidFill>
              </a:defRPr>
            </a:pPr>
            <a:r>
              <a:t>•  2. Macro Information is Critical: Macro variables reject orthogonality (LR Chi2 = 284.6) and boost out-of-sample ROC-AUC from 0.76 to 0.84.</a:t>
            </a:r>
          </a:p>
          <a:p>
            <a:pPr>
              <a:spcAft>
                <a:spcPts val="600"/>
              </a:spcAft>
              <a:defRPr sz="1100">
                <a:solidFill>
                  <a:srgbClr val="282828"/>
                </a:solidFill>
              </a:defRPr>
            </a:pPr>
            <a:r>
              <a:t>•  3. Decisive Early Warning Advantage: Macro-augmented models trigger actionable alerts 3.1 quarters in advance, providing a 1.9-quarter lead time advantage over agency CreditWatch actions.</a:t>
            </a:r>
          </a:p>
          <a:p>
            <a:pPr>
              <a:spcAft>
                <a:spcPts val="600"/>
              </a:spcAft>
              <a:defRPr sz="1100">
                <a:solidFill>
                  <a:srgbClr val="282828"/>
                </a:solidFill>
              </a:defRPr>
            </a:pPr>
            <a:r>
              <a:t>•  4. Non-Linear Heterogeneity: High-leverage firms in cyclical sectors (Consumer Durables, Energy) bear disproportionate downgrade risk during rate tightening.</a:t>
            </a:r>
          </a:p>
          <a:p>
            <a:pPr>
              <a:spcAft>
                <a:spcPts val="600"/>
              </a:spcAft>
              <a:defRPr sz="1100">
                <a:solidFill>
                  <a:srgbClr val="282828"/>
                </a:solidFill>
              </a:defRPr>
            </a:pPr>
            <a:r>
              <a:t>•  5. Complete Reproducibility: Fully auditable Python research pipeline with zero hand-typed numbers and strict temporal embargoes.</a:t>
            </a:r>
          </a:p>
        </p:txBody>
      </p:sp>
      <p:sp>
        <p:nvSpPr>
          <p:cNvPr id="6" name="TextBox 5"/>
          <p:cNvSpPr txBox="1"/>
          <p:nvPr/>
        </p:nvSpPr>
        <p:spPr>
          <a:xfrm>
            <a:off x="914400" y="6035040"/>
            <a:ext cx="10362895" cy="548640"/>
          </a:xfrm>
          <a:prstGeom prst="rect">
            <a:avLst/>
          </a:prstGeom>
          <a:noFill/>
        </p:spPr>
        <p:txBody>
          <a:bodyPr wrap="none">
            <a:spAutoFit/>
          </a:bodyPr>
          <a:lstStyle/>
          <a:p>
            <a:pPr algn="ctr">
              <a:defRPr sz="1800" b="1">
                <a:solidFill>
                  <a:srgbClr val="DAA520"/>
                </a:solidFill>
              </a:defRPr>
            </a:pPr>
            <a:r>
              <a:t>Thank you.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